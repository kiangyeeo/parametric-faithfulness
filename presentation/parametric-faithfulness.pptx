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4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6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2003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682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2B42-E321-6CBB-0914-89BAEC545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EB1A2-D36C-3136-F625-04D838BDC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15DAC-A94E-E2DB-E828-0B3741DB3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AE984-2B1B-8280-4EC9-729AD33B5B2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58717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C405A28-2D90-4F70-839F-6C4AD17DEF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67A688-69C0-4252-A1ED-0DECCECE0B22}"/>
              </a:ext>
            </a:extLst>
          </p:cNvPr>
          <p:cNvSpPr>
            <a:spLocks noGrp="1"/>
          </p:cNvSpPr>
          <p:nvPr/>
        </p:nvSpPr>
        <p:spPr>
          <a:xfrm>
            <a:off x="1104900" y="2152650"/>
            <a:ext cx="998220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32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Reproducing FUR:</a:t>
            </a:r>
          </a:p>
          <a:p>
            <a:pPr algn="ctr">
              <a:defRPr sz="27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32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A Closer Look at</a:t>
            </a:r>
            <a:r>
              <a:rPr lang="en-US" sz="32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 </a:t>
            </a:r>
            <a:r>
              <a:rPr sz="32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Parametric Faithfulness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34DDC7-DA87-4340-A7F1-856300718897}"/>
              </a:ext>
            </a:extLst>
          </p:cNvPr>
          <p:cNvSpPr>
            <a:spLocks noGrp="1"/>
          </p:cNvSpPr>
          <p:nvPr/>
        </p:nvSpPr>
        <p:spPr>
          <a:xfrm>
            <a:off x="1524000" y="4010025"/>
            <a:ext cx="9144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00" b="0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NLP &amp; LLM, Spring 2026</a:t>
            </a:r>
            <a:endParaRPr lang="en-US" sz="1500" b="0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  <a:p>
            <a:pPr algn="ctr">
              <a:defRPr sz="150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endParaRPr sz="1500" b="0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  <a:p>
            <a:pPr algn="ctr">
              <a:defRPr sz="150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00" b="0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Group 1: Jialong Chen, </a:t>
            </a:r>
            <a:r>
              <a:rPr sz="1500" b="0" dirty="0" err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Tianle</a:t>
            </a:r>
            <a:r>
              <a:rPr sz="1500" b="0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 Chen, </a:t>
            </a:r>
            <a:r>
              <a:rPr sz="1500" b="0" dirty="0" err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Junyan</a:t>
            </a:r>
            <a:r>
              <a:rPr sz="1500" b="0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 Liu,</a:t>
            </a:r>
          </a:p>
          <a:p>
            <a:pPr algn="ctr">
              <a:defRPr sz="150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00" b="0" dirty="0" err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Kengyi</a:t>
            </a:r>
            <a:r>
              <a:rPr sz="1500" b="0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 Wang, </a:t>
            </a:r>
            <a:r>
              <a:rPr sz="1500" b="0" dirty="0" err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Wanyi</a:t>
            </a:r>
            <a:r>
              <a:rPr sz="1500" b="0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 Zhou</a:t>
            </a:r>
          </a:p>
          <a:p>
            <a:pPr algn="ctr">
              <a:defRPr sz="150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00" b="0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School of Data Science, Fudan University</a:t>
            </a:r>
            <a:endParaRPr lang="en-US" sz="1500" b="0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  <a:p>
            <a:pPr algn="ctr">
              <a:defRPr sz="150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endParaRPr sz="1500" b="0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  <a:p>
            <a:pPr algn="ctr">
              <a:defRPr sz="150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00" b="0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May 21, 2026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83CEC5-EA8C-4C24-828C-931542F13021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92348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C331F99-4A4E-4AB8-BC3F-330300E354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2383CF-65CB-4584-A4F3-494EC9EB2DE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Agenda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6B36AF-3A86-4CFC-8910-573F160962D2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1823E1-6F33-4729-B9C7-E1D85D194015}"/>
              </a:ext>
            </a:extLst>
          </p:cNvPr>
          <p:cNvSpPr>
            <a:spLocks noGrp="1"/>
          </p:cNvSpPr>
          <p:nvPr/>
        </p:nvSpPr>
        <p:spPr>
          <a:xfrm>
            <a:off x="742950" y="1257300"/>
            <a:ext cx="400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4668F5-916E-4B3E-83D1-A060276DD380}"/>
              </a:ext>
            </a:extLst>
          </p:cNvPr>
          <p:cNvSpPr>
            <a:spLocks noGrp="1"/>
          </p:cNvSpPr>
          <p:nvPr/>
        </p:nvSpPr>
        <p:spPr>
          <a:xfrm>
            <a:off x="1314450" y="1428750"/>
            <a:ext cx="7620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400C8D-ABE8-479A-A00B-0FF36A7A9E06}"/>
              </a:ext>
            </a:extLst>
          </p:cNvPr>
          <p:cNvSpPr>
            <a:spLocks noGrp="1"/>
          </p:cNvSpPr>
          <p:nvPr/>
        </p:nvSpPr>
        <p:spPr>
          <a:xfrm>
            <a:off x="2381249" y="1238250"/>
            <a:ext cx="570980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Why </a:t>
            </a:r>
            <a:r>
              <a:rPr sz="2400" b="1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CoT</a:t>
            </a:r>
            <a:r>
              <a:rPr sz="2400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faithfulness matters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8AA6C4-65E8-4D1A-B6DF-2FB6300D449F}"/>
              </a:ext>
            </a:extLst>
          </p:cNvPr>
          <p:cNvSpPr>
            <a:spLocks noGrp="1"/>
          </p:cNvSpPr>
          <p:nvPr/>
        </p:nvSpPr>
        <p:spPr>
          <a:xfrm>
            <a:off x="2381250" y="16192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959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95959"/>
                </a:solidFill>
                <a:latin typeface="Tahoma"/>
                <a:ea typeface="Tahoma"/>
                <a:cs typeface="Tahoma"/>
              </a:rPr>
              <a:t>CoT is useful, but verbal reasoning can be post-hoc.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A173C4-D1CB-42CC-A164-48289782348F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400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B39246-9A35-4807-9DCD-8C6E69AC2E74}"/>
              </a:ext>
            </a:extLst>
          </p:cNvPr>
          <p:cNvSpPr>
            <a:spLocks noGrp="1"/>
          </p:cNvSpPr>
          <p:nvPr/>
        </p:nvSpPr>
        <p:spPr>
          <a:xfrm>
            <a:off x="1314450" y="2438400"/>
            <a:ext cx="7620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EB17DB-5658-41F2-BFCD-F727C1FA271A}"/>
              </a:ext>
            </a:extLst>
          </p:cNvPr>
          <p:cNvSpPr>
            <a:spLocks noGrp="1"/>
          </p:cNvSpPr>
          <p:nvPr/>
        </p:nvSpPr>
        <p:spPr>
          <a:xfrm>
            <a:off x="2381250" y="224790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How PFF and FUR work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DCAFF5-388B-455D-93D5-E9DC01485836}"/>
              </a:ext>
            </a:extLst>
          </p:cNvPr>
          <p:cNvSpPr>
            <a:spLocks noGrp="1"/>
          </p:cNvSpPr>
          <p:nvPr/>
        </p:nvSpPr>
        <p:spPr>
          <a:xfrm>
            <a:off x="2381250" y="262890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959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95959"/>
                </a:solidFill>
                <a:latin typeface="Tahoma"/>
                <a:ea typeface="Tahoma"/>
                <a:cs typeface="Tahoma"/>
              </a:rPr>
              <a:t>Faithfulness is tested by editing model parameters, not only prompt text.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258610-884D-4208-966B-ED2C8A3778EF}"/>
              </a:ext>
            </a:extLst>
          </p:cNvPr>
          <p:cNvSpPr>
            <a:spLocks noGrp="1"/>
          </p:cNvSpPr>
          <p:nvPr/>
        </p:nvSpPr>
        <p:spPr>
          <a:xfrm>
            <a:off x="742950" y="3276600"/>
            <a:ext cx="400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9EEB56-667F-44D1-9B2A-62EB8DCCFD82}"/>
              </a:ext>
            </a:extLst>
          </p:cNvPr>
          <p:cNvSpPr>
            <a:spLocks noGrp="1"/>
          </p:cNvSpPr>
          <p:nvPr/>
        </p:nvSpPr>
        <p:spPr>
          <a:xfrm>
            <a:off x="1314450" y="3448050"/>
            <a:ext cx="7620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CE587C-2556-476B-9C4F-0DC0E860110D}"/>
              </a:ext>
            </a:extLst>
          </p:cNvPr>
          <p:cNvSpPr>
            <a:spLocks noGrp="1"/>
          </p:cNvSpPr>
          <p:nvPr/>
        </p:nvSpPr>
        <p:spPr>
          <a:xfrm>
            <a:off x="2381250" y="325755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What we reproduce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1AC96A-F36E-48DA-A464-003D95FFD94F}"/>
              </a:ext>
            </a:extLst>
          </p:cNvPr>
          <p:cNvSpPr>
            <a:spLocks noGrp="1"/>
          </p:cNvSpPr>
          <p:nvPr/>
        </p:nvSpPr>
        <p:spPr>
          <a:xfrm>
            <a:off x="2381250" y="363855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959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95959"/>
                </a:solidFill>
                <a:latin typeface="Tahoma"/>
                <a:ea typeface="Tahoma"/>
                <a:cs typeface="Tahoma"/>
              </a:rPr>
              <a:t>A scaled 2 x 2 model-dataset subset with the original controls.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508884-1BF3-4FF0-B918-433E99B07FB4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400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0D3B32-5F64-4F05-AE5C-17B5206E92BB}"/>
              </a:ext>
            </a:extLst>
          </p:cNvPr>
          <p:cNvSpPr>
            <a:spLocks noGrp="1"/>
          </p:cNvSpPr>
          <p:nvPr/>
        </p:nvSpPr>
        <p:spPr>
          <a:xfrm>
            <a:off x="1314450" y="4457700"/>
            <a:ext cx="7620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2AB819-E0DE-4390-A056-DDB3D743375F}"/>
              </a:ext>
            </a:extLst>
          </p:cNvPr>
          <p:cNvSpPr>
            <a:spLocks noGrp="1"/>
          </p:cNvSpPr>
          <p:nvPr/>
        </p:nvSpPr>
        <p:spPr>
          <a:xfrm>
            <a:off x="2381250" y="426720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Where we extend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5AB57E-5BDE-4500-91CF-91E4BCED0D0B}"/>
              </a:ext>
            </a:extLst>
          </p:cNvPr>
          <p:cNvSpPr>
            <a:spLocks noGrp="1"/>
          </p:cNvSpPr>
          <p:nvPr/>
        </p:nvSpPr>
        <p:spPr>
          <a:xfrm>
            <a:off x="2381250" y="464820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9595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95959"/>
                </a:solidFill>
                <a:latin typeface="Tahoma"/>
                <a:ea typeface="Tahoma"/>
                <a:cs typeface="Tahoma"/>
              </a:rPr>
              <a:t>A loss-function probe: regularization strength and SimNPO replacement.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09EEE7-1750-42D9-9A5D-7554F37265B6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Sources: Tutek et al. (2025); Group 1 proposal.</a:t>
            </a:r>
          </a:p>
        </p:txBody>
      </p:sp>
    </p:spTree>
    <p:extLst>
      <p:ext uri="{BB962C8B-B14F-4D97-AF65-F5344CB8AC3E}">
        <p14:creationId xmlns:p14="http://schemas.microsoft.com/office/powerpoint/2010/main" val="40232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B3820F1-0A5D-4EE0-962A-A9BF370B95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5CC373-5FA7-4D0B-8324-4AD37DA89C3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Motivation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D9F360-F99C-48BA-B4F2-ABC0DA80BE44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Chain-of-thought prompting makes reasoning visible, but visibility is not faithfulness.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BAFBAB-4CD8-428D-B0B4-FF5D71338FC7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59570F-8447-4B50-AA9C-3A20AD390F12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723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CoT</a:t>
            </a: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gives the model a place to write down a path from question to answer.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083FFD-8B4D-4BE2-AD49-0C2B4097B88C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2428875" cy="11049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DC2903-F096-4DC8-B7CC-9CE3325DA0CC}"/>
              </a:ext>
            </a:extLst>
          </p:cNvPr>
          <p:cNvSpPr>
            <a:spLocks noGrp="1"/>
          </p:cNvSpPr>
          <p:nvPr/>
        </p:nvSpPr>
        <p:spPr>
          <a:xfrm>
            <a:off x="933450" y="245745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lang="en-US"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Question</a:t>
            </a:r>
            <a:endParaRPr sz="2000" b="1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ABCAB3-E7D5-4647-9076-B3B57299A872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2162175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 multi-hop MCQA item</a:t>
            </a:r>
          </a:p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with plausible options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A8A6FC-5297-4D71-B304-E272EBBC4355}"/>
              </a:ext>
            </a:extLst>
          </p:cNvPr>
          <p:cNvSpPr>
            <a:spLocks noGrp="1"/>
          </p:cNvSpPr>
          <p:nvPr/>
        </p:nvSpPr>
        <p:spPr>
          <a:xfrm>
            <a:off x="3409950" y="2886075"/>
            <a:ext cx="51435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D27C50-B60F-414B-9CD0-9330A195B2FC}"/>
              </a:ext>
            </a:extLst>
          </p:cNvPr>
          <p:cNvSpPr>
            <a:spLocks noGrp="1"/>
          </p:cNvSpPr>
          <p:nvPr/>
        </p:nvSpPr>
        <p:spPr>
          <a:xfrm>
            <a:off x="3905250" y="2771775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767D25-9B8D-4377-995B-2D5264D2BF8C}"/>
              </a:ext>
            </a:extLst>
          </p:cNvPr>
          <p:cNvSpPr>
            <a:spLocks noGrp="1"/>
          </p:cNvSpPr>
          <p:nvPr/>
        </p:nvSpPr>
        <p:spPr>
          <a:xfrm>
            <a:off x="4171950" y="2190750"/>
            <a:ext cx="3333750" cy="1409700"/>
          </a:xfrm>
          <a:prstGeom prst="rect">
            <a:avLst/>
          </a:prstGeom>
          <a:solidFill>
            <a:srgbClr val="EEF4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4E1FEA-D223-4C15-B53B-C1DBE9006395}"/>
              </a:ext>
            </a:extLst>
          </p:cNvPr>
          <p:cNvSpPr>
            <a:spLocks noGrp="1"/>
          </p:cNvSpPr>
          <p:nvPr/>
        </p:nvSpPr>
        <p:spPr>
          <a:xfrm>
            <a:off x="4219575" y="2357149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lang="en-US"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“</a:t>
            </a: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Let's think step by step</a:t>
            </a:r>
            <a:r>
              <a:rPr lang="en-US"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"</a:t>
            </a:r>
            <a:endParaRPr sz="2000" b="1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33104D-A6C5-43C2-AB70-E5360CD74D4F}"/>
              </a:ext>
            </a:extLst>
          </p:cNvPr>
          <p:cNvSpPr>
            <a:spLocks noGrp="1"/>
          </p:cNvSpPr>
          <p:nvPr/>
        </p:nvSpPr>
        <p:spPr>
          <a:xfrm>
            <a:off x="4305300" y="2800350"/>
            <a:ext cx="30670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The model verbalizes</a:t>
            </a:r>
            <a:r>
              <a:rPr lang="en-US" sz="16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intermediate facts,</a:t>
            </a:r>
          </a:p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comparisons, and a final answer.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BD4D08-0F0F-4955-8394-459D6453ACA7}"/>
              </a:ext>
            </a:extLst>
          </p:cNvPr>
          <p:cNvSpPr>
            <a:spLocks noGrp="1"/>
          </p:cNvSpPr>
          <p:nvPr/>
        </p:nvSpPr>
        <p:spPr>
          <a:xfrm>
            <a:off x="7686675" y="2886075"/>
            <a:ext cx="523875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CA30E1-210E-4843-8C36-B4403D5A5773}"/>
              </a:ext>
            </a:extLst>
          </p:cNvPr>
          <p:cNvSpPr>
            <a:spLocks noGrp="1"/>
          </p:cNvSpPr>
          <p:nvPr/>
        </p:nvSpPr>
        <p:spPr>
          <a:xfrm>
            <a:off x="8191500" y="2771775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1BECF4-7DF5-4D13-843E-3505EB6F6FBE}"/>
              </a:ext>
            </a:extLst>
          </p:cNvPr>
          <p:cNvSpPr>
            <a:spLocks noGrp="1"/>
          </p:cNvSpPr>
          <p:nvPr/>
        </p:nvSpPr>
        <p:spPr>
          <a:xfrm>
            <a:off x="8458200" y="2343150"/>
            <a:ext cx="2486891" cy="112395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FCEE55-F50F-4899-8457-327A8D48B710}"/>
              </a:ext>
            </a:extLst>
          </p:cNvPr>
          <p:cNvSpPr>
            <a:spLocks noGrp="1"/>
          </p:cNvSpPr>
          <p:nvPr/>
        </p:nvSpPr>
        <p:spPr>
          <a:xfrm>
            <a:off x="8591550" y="2457450"/>
            <a:ext cx="20669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6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Answer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9EF8C8-890F-4557-924B-93391F20BC0B}"/>
              </a:ext>
            </a:extLst>
          </p:cNvPr>
          <p:cNvSpPr>
            <a:spLocks noGrp="1"/>
          </p:cNvSpPr>
          <p:nvPr/>
        </p:nvSpPr>
        <p:spPr>
          <a:xfrm>
            <a:off x="7966941" y="2802514"/>
            <a:ext cx="3498850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 letter prediction</a:t>
            </a:r>
          </a:p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and probability mass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99CB051-12D2-41FE-8806-F566AD902547}"/>
              </a:ext>
            </a:extLst>
          </p:cNvPr>
          <p:cNvSpPr>
            <a:spLocks noGrp="1"/>
          </p:cNvSpPr>
          <p:nvPr/>
        </p:nvSpPr>
        <p:spPr>
          <a:xfrm>
            <a:off x="6774584" y="4333875"/>
            <a:ext cx="4691207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lang="en-US"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However, t</a:t>
            </a: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he open question is whether the written path was actually used by the model's internal computation.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67B55FA-C35C-B684-513D-E69C045AD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86" y="4552950"/>
            <a:ext cx="4781550" cy="188595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4211803-A1F0-10D7-DD8C-4578B1975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86" y="3752850"/>
            <a:ext cx="5938098" cy="2390775"/>
          </a:xfrm>
          <a:prstGeom prst="rect">
            <a:avLst/>
          </a:prstGeom>
        </p:spPr>
      </p:pic>
      <p:sp>
        <p:nvSpPr>
          <p:cNvPr id="26" name="椭圆 25">
            <a:extLst>
              <a:ext uri="{FF2B5EF4-FFF2-40B4-BE49-F238E27FC236}">
                <a16:creationId xmlns:a16="http://schemas.microsoft.com/office/drawing/2014/main" id="{71E2DD69-369E-27BB-D71C-49D7C655ADF5}"/>
              </a:ext>
            </a:extLst>
          </p:cNvPr>
          <p:cNvSpPr/>
          <p:nvPr/>
        </p:nvSpPr>
        <p:spPr>
          <a:xfrm>
            <a:off x="1080659" y="6002338"/>
            <a:ext cx="1394691" cy="4707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61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D84EACAD-FDA3-4E54-BFA5-33A268A642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E50BBE-1BAB-4BD5-B7F8-120D88A8C175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Faithfulness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162B16-6ED3-4040-8588-C2E66F32897D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A faithful CoT should reflect the model's parametric belief, not only a plausible story.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18FE8B-AB7D-429F-B171-D63B4C5AB45B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71C237-E8FB-4D10-A82A-CAD08EAA68D3}"/>
              </a:ext>
            </a:extLst>
          </p:cNvPr>
          <p:cNvSpPr>
            <a:spLocks noGrp="1"/>
          </p:cNvSpPr>
          <p:nvPr/>
        </p:nvSpPr>
        <p:spPr>
          <a:xfrm>
            <a:off x="876300" y="1200150"/>
            <a:ext cx="3714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The causal question</a:t>
            </a:r>
            <a:r>
              <a:rPr lang="en-US"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:</a:t>
            </a:r>
            <a:endParaRPr sz="2400" b="1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D7F278-7EF3-4797-92D4-C45235E78CEE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If a stated reasoning step is removed from the model itself, does the answer change?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A374CA-2ACF-4D0A-9D5E-742C21DEEBDF}"/>
              </a:ext>
            </a:extLst>
          </p:cNvPr>
          <p:cNvSpPr>
            <a:spLocks noGrp="1"/>
          </p:cNvSpPr>
          <p:nvPr/>
        </p:nvSpPr>
        <p:spPr>
          <a:xfrm>
            <a:off x="890588" y="2686050"/>
            <a:ext cx="2324100" cy="12954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B9E8FB-2787-48AF-A98C-95484E5D7DE4}"/>
              </a:ext>
            </a:extLst>
          </p:cNvPr>
          <p:cNvSpPr>
            <a:spLocks noGrp="1"/>
          </p:cNvSpPr>
          <p:nvPr/>
        </p:nvSpPr>
        <p:spPr>
          <a:xfrm>
            <a:off x="866631" y="2846532"/>
            <a:ext cx="2324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Parametric belief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0BD19D-A004-4933-9B65-3B0E1A8D0035}"/>
              </a:ext>
            </a:extLst>
          </p:cNvPr>
          <p:cNvSpPr>
            <a:spLocks noGrp="1"/>
          </p:cNvSpPr>
          <p:nvPr/>
        </p:nvSpPr>
        <p:spPr>
          <a:xfrm>
            <a:off x="1001424" y="3226521"/>
            <a:ext cx="2054514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stored in weights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7E4EB1-47AF-4457-AA56-F24D94AE1BF1}"/>
              </a:ext>
            </a:extLst>
          </p:cNvPr>
          <p:cNvSpPr>
            <a:spLocks noGrp="1"/>
          </p:cNvSpPr>
          <p:nvPr/>
        </p:nvSpPr>
        <p:spPr>
          <a:xfrm>
            <a:off x="3524250" y="3362325"/>
            <a:ext cx="8001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2C4607-8ECB-4D01-8486-6CA28335E188}"/>
              </a:ext>
            </a:extLst>
          </p:cNvPr>
          <p:cNvSpPr>
            <a:spLocks noGrp="1"/>
          </p:cNvSpPr>
          <p:nvPr/>
        </p:nvSpPr>
        <p:spPr>
          <a:xfrm>
            <a:off x="4305300" y="3248025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F6EF2E-D84D-4155-B0FC-902FCA4246E5}"/>
              </a:ext>
            </a:extLst>
          </p:cNvPr>
          <p:cNvSpPr>
            <a:spLocks noGrp="1"/>
          </p:cNvSpPr>
          <p:nvPr/>
        </p:nvSpPr>
        <p:spPr>
          <a:xfrm>
            <a:off x="4591050" y="2705100"/>
            <a:ext cx="2857500" cy="12573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BF77BA-EB9D-4B97-9D65-7F1CE619DBA3}"/>
              </a:ext>
            </a:extLst>
          </p:cNvPr>
          <p:cNvSpPr>
            <a:spLocks noGrp="1"/>
          </p:cNvSpPr>
          <p:nvPr/>
        </p:nvSpPr>
        <p:spPr>
          <a:xfrm>
            <a:off x="4752975" y="2838450"/>
            <a:ext cx="2590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Verbalized </a:t>
            </a:r>
            <a:r>
              <a:rPr sz="2000" b="1" dirty="0" err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CoT</a:t>
            </a:r>
            <a:endParaRPr sz="2000" b="1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A1E8F5-F11F-4F74-A4FA-4991B6C3FAEB}"/>
              </a:ext>
            </a:extLst>
          </p:cNvPr>
          <p:cNvSpPr>
            <a:spLocks noGrp="1"/>
          </p:cNvSpPr>
          <p:nvPr/>
        </p:nvSpPr>
        <p:spPr>
          <a:xfrm>
            <a:off x="4600575" y="3238500"/>
            <a:ext cx="291465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The model writes down</a:t>
            </a:r>
          </a:p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reasoning steps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A488C4-04D1-4C56-BD7D-1D96793C9F15}"/>
              </a:ext>
            </a:extLst>
          </p:cNvPr>
          <p:cNvSpPr>
            <a:spLocks noGrp="1"/>
          </p:cNvSpPr>
          <p:nvPr/>
        </p:nvSpPr>
        <p:spPr>
          <a:xfrm>
            <a:off x="7667625" y="3362325"/>
            <a:ext cx="752475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02DF54-044C-4669-AA45-C37FAB838957}"/>
              </a:ext>
            </a:extLst>
          </p:cNvPr>
          <p:cNvSpPr>
            <a:spLocks noGrp="1"/>
          </p:cNvSpPr>
          <p:nvPr/>
        </p:nvSpPr>
        <p:spPr>
          <a:xfrm>
            <a:off x="8401050" y="3248025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A2D52A-9BB3-44D3-A6F1-A04551D841A7}"/>
              </a:ext>
            </a:extLst>
          </p:cNvPr>
          <p:cNvSpPr>
            <a:spLocks noGrp="1"/>
          </p:cNvSpPr>
          <p:nvPr/>
        </p:nvSpPr>
        <p:spPr>
          <a:xfrm>
            <a:off x="8715375" y="2914650"/>
            <a:ext cx="2381250" cy="8763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5489F80-84F1-4ACD-8D29-0F6ACFE90E0F}"/>
              </a:ext>
            </a:extLst>
          </p:cNvPr>
          <p:cNvSpPr>
            <a:spLocks noGrp="1"/>
          </p:cNvSpPr>
          <p:nvPr/>
        </p:nvSpPr>
        <p:spPr>
          <a:xfrm>
            <a:off x="8848725" y="3028950"/>
            <a:ext cx="211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Prediction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F7A8F42-2504-4121-BEB6-5CBBEAAB77CE}"/>
              </a:ext>
            </a:extLst>
          </p:cNvPr>
          <p:cNvSpPr>
            <a:spLocks noGrp="1"/>
          </p:cNvSpPr>
          <p:nvPr/>
        </p:nvSpPr>
        <p:spPr>
          <a:xfrm>
            <a:off x="8760619" y="3405187"/>
            <a:ext cx="23907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Answer distribution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A9EDCC-1ABF-43A0-918C-F35F01D10EB2}"/>
              </a:ext>
            </a:extLst>
          </p:cNvPr>
          <p:cNvSpPr>
            <a:spLocks noGrp="1"/>
          </p:cNvSpPr>
          <p:nvPr/>
        </p:nvSpPr>
        <p:spPr>
          <a:xfrm>
            <a:off x="4619625" y="4324350"/>
            <a:ext cx="2857500" cy="28575"/>
          </a:xfrm>
          <a:prstGeom prst="rect">
            <a:avLst/>
          </a:prstGeom>
          <a:solidFill>
            <a:srgbClr val="00B0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476448-0787-4853-8380-9A2FA11502B3}"/>
              </a:ext>
            </a:extLst>
          </p:cNvPr>
          <p:cNvSpPr>
            <a:spLocks noGrp="1"/>
          </p:cNvSpPr>
          <p:nvPr/>
        </p:nvSpPr>
        <p:spPr>
          <a:xfrm>
            <a:off x="2647950" y="4591049"/>
            <a:ext cx="6953250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0B050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0B050"/>
                </a:solidFill>
                <a:latin typeface="Tahoma"/>
                <a:ea typeface="Tahoma"/>
                <a:cs typeface="Tahoma"/>
              </a:rPr>
              <a:t>Faithful when this verbalized step tracks an internal cause of the prediction.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3D92537-C69D-4FFC-B1EF-5BA57528B3FF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Tutek et al. (2025), Sections 1 and 3.</a:t>
            </a:r>
          </a:p>
        </p:txBody>
      </p:sp>
    </p:spTree>
    <p:extLst>
      <p:ext uri="{BB962C8B-B14F-4D97-AF65-F5344CB8AC3E}">
        <p14:creationId xmlns:p14="http://schemas.microsoft.com/office/powerpoint/2010/main" val="1809691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3BA5956-6327-45C0-9870-FE1D17CC23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AFA5A4-50AE-40A6-B9D7-FA91331D8BF8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Prior Faithfulness Tests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DF5209-90C9-4E2D-BA9B-A986B608EB3E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Contextual perturbations test sensitivity to text, but may miss parameter-level causes.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9CDFDD-E7FB-402A-B8C7-754F8EA4A438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006F50-FCFA-4478-ABFF-43D01B870BEB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4572000" cy="2857500"/>
          </a:xfrm>
          <a:prstGeom prst="rect">
            <a:avLst/>
          </a:prstGeom>
          <a:solidFill>
            <a:srgbClr val="FFFFFF"/>
          </a:solidFill>
          <a:ln w="11430">
            <a:solidFill>
              <a:srgbClr val="B7C7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679019-632D-4497-99B3-F303797B526E}"/>
              </a:ext>
            </a:extLst>
          </p:cNvPr>
          <p:cNvSpPr>
            <a:spLocks noGrp="1"/>
          </p:cNvSpPr>
          <p:nvPr/>
        </p:nvSpPr>
        <p:spPr>
          <a:xfrm>
            <a:off x="952500" y="1485900"/>
            <a:ext cx="422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Contextual perturbation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F23CD4-7DBC-4D91-92AB-1D6B622EBD5C}"/>
              </a:ext>
            </a:extLst>
          </p:cNvPr>
          <p:cNvSpPr>
            <a:spLocks noGrp="1"/>
          </p:cNvSpPr>
          <p:nvPr/>
        </p:nvSpPr>
        <p:spPr>
          <a:xfrm>
            <a:off x="952500" y="1990148"/>
            <a:ext cx="4229100" cy="2324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Delete a token, replace a step, paraphrase a rationale, or inject a mistake into the prompt.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085294-8A4E-4A8B-B98C-7EE138F1848E}"/>
              </a:ext>
            </a:extLst>
          </p:cNvPr>
          <p:cNvSpPr>
            <a:spLocks noGrp="1"/>
          </p:cNvSpPr>
          <p:nvPr/>
        </p:nvSpPr>
        <p:spPr>
          <a:xfrm>
            <a:off x="6838950" y="1352550"/>
            <a:ext cx="3905250" cy="2857500"/>
          </a:xfrm>
          <a:prstGeom prst="rect">
            <a:avLst/>
          </a:prstGeom>
          <a:solidFill>
            <a:srgbClr val="EEF4FF"/>
          </a:solidFill>
          <a:ln w="11430">
            <a:solidFill>
              <a:srgbClr val="B7C7E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777335-CB76-42F4-8288-A838F9DBBA2C}"/>
              </a:ext>
            </a:extLst>
          </p:cNvPr>
          <p:cNvSpPr>
            <a:spLocks noGrp="1"/>
          </p:cNvSpPr>
          <p:nvPr/>
        </p:nvSpPr>
        <p:spPr>
          <a:xfrm>
            <a:off x="7010400" y="1485900"/>
            <a:ext cx="3562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Why this is not enough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7C34A4-289A-41E1-BB04-91EDE4F07503}"/>
              </a:ext>
            </a:extLst>
          </p:cNvPr>
          <p:cNvSpPr>
            <a:spLocks noGrp="1"/>
          </p:cNvSpPr>
          <p:nvPr/>
        </p:nvSpPr>
        <p:spPr>
          <a:xfrm>
            <a:off x="7010400" y="1914525"/>
            <a:ext cx="3562350" cy="2324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The input can still map directly to the answer.</a:t>
            </a:r>
          </a:p>
          <a:p>
            <a:pPr algn="l">
              <a:defRPr sz="1388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The model's stored knowledge remains intact.</a:t>
            </a:r>
          </a:p>
          <a:p>
            <a:pPr algn="l">
              <a:defRPr sz="1388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 changed prompt can shift behavior for reasons unrelated to the target step.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2DBB9B-6924-4202-967F-E0335063DD90}"/>
              </a:ext>
            </a:extLst>
          </p:cNvPr>
          <p:cNvSpPr>
            <a:spLocks noGrp="1"/>
          </p:cNvSpPr>
          <p:nvPr/>
        </p:nvSpPr>
        <p:spPr>
          <a:xfrm>
            <a:off x="5562600" y="2771775"/>
            <a:ext cx="85725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EFB200-2970-4D8A-A20E-F5BB01660DBE}"/>
              </a:ext>
            </a:extLst>
          </p:cNvPr>
          <p:cNvSpPr>
            <a:spLocks noGrp="1"/>
          </p:cNvSpPr>
          <p:nvPr/>
        </p:nvSpPr>
        <p:spPr>
          <a:xfrm>
            <a:off x="6400800" y="2657475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C00000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C00000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955CE2-6FB7-4525-8008-DEE7AB392E8C}"/>
              </a:ext>
            </a:extLst>
          </p:cNvPr>
          <p:cNvSpPr>
            <a:spLocks noGrp="1"/>
          </p:cNvSpPr>
          <p:nvPr/>
        </p:nvSpPr>
        <p:spPr>
          <a:xfrm>
            <a:off x="1162050" y="4495800"/>
            <a:ext cx="3714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C00000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Prompt text changed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4EDFBF-2F2E-40D3-A00B-4441361860A9}"/>
              </a:ext>
            </a:extLst>
          </p:cNvPr>
          <p:cNvSpPr>
            <a:spLocks noGrp="1"/>
          </p:cNvSpPr>
          <p:nvPr/>
        </p:nvSpPr>
        <p:spPr>
          <a:xfrm>
            <a:off x="6838950" y="4495800"/>
            <a:ext cx="390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Model parameters unchanged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9B9842-A36D-4D4D-BE21-895137D6C7B0}"/>
              </a:ext>
            </a:extLst>
          </p:cNvPr>
          <p:cNvSpPr>
            <a:spLocks noGrp="1"/>
          </p:cNvSpPr>
          <p:nvPr/>
        </p:nvSpPr>
        <p:spPr>
          <a:xfrm>
            <a:off x="2171700" y="52959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FUR's move is to intervene where the information is stored.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34E8AA-37B5-4071-A5A5-D53A52F11141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Tutek et al. (2025), Introduction and Related Work.</a:t>
            </a:r>
          </a:p>
        </p:txBody>
      </p:sp>
    </p:spTree>
    <p:extLst>
      <p:ext uri="{BB962C8B-B14F-4D97-AF65-F5344CB8AC3E}">
        <p14:creationId xmlns:p14="http://schemas.microsoft.com/office/powerpoint/2010/main" val="1897069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>
            <a:extLst>
              <a:ext uri="{FF2B5EF4-FFF2-40B4-BE49-F238E27FC236}">
                <a16:creationId xmlns:a16="http://schemas.microsoft.com/office/drawing/2014/main" id="{CC1AB42C-3F84-4390-B6B6-2F93210B26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DF3090-1405-4885-A25E-00DCC6A462D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Parametric View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074021-E536-4711-A642-448095A3DF32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FUR asks whether unlearning a reasoning step moves the model's no-CoT answer.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698C0A-51CB-49BE-8656-750474CCB902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FED72F-19F6-4706-BD72-F157AD27A4E7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2190750" cy="1066800"/>
          </a:xfrm>
          <a:prstGeom prst="rect">
            <a:avLst/>
          </a:prstGeom>
          <a:solidFill>
            <a:srgbClr val="EEF4FF"/>
          </a:solidFill>
          <a:ln w="11430">
            <a:solidFill>
              <a:srgbClr val="0E419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F98A70-F5C3-439A-BABB-19B0FC5CE726}"/>
              </a:ext>
            </a:extLst>
          </p:cNvPr>
          <p:cNvSpPr>
            <a:spLocks noGrp="1"/>
          </p:cNvSpPr>
          <p:nvPr/>
        </p:nvSpPr>
        <p:spPr>
          <a:xfrm rot="1561776">
            <a:off x="962025" y="1962150"/>
            <a:ext cx="455809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86C0FA-8373-4E31-BA03-09853562E2AD}"/>
              </a:ext>
            </a:extLst>
          </p:cNvPr>
          <p:cNvSpPr>
            <a:spLocks noGrp="1"/>
          </p:cNvSpPr>
          <p:nvPr/>
        </p:nvSpPr>
        <p:spPr>
          <a:xfrm rot="-1561776">
            <a:off x="962025" y="2362200"/>
            <a:ext cx="455809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33159F-E2E0-4028-AF64-7AAE599873D9}"/>
              </a:ext>
            </a:extLst>
          </p:cNvPr>
          <p:cNvSpPr>
            <a:spLocks noGrp="1"/>
          </p:cNvSpPr>
          <p:nvPr/>
        </p:nvSpPr>
        <p:spPr>
          <a:xfrm rot="-1593903">
            <a:off x="1371600" y="2162175"/>
            <a:ext cx="447269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4149A2-769A-4254-989B-B5FDC70E01EF}"/>
              </a:ext>
            </a:extLst>
          </p:cNvPr>
          <p:cNvSpPr>
            <a:spLocks noGrp="1"/>
          </p:cNvSpPr>
          <p:nvPr/>
        </p:nvSpPr>
        <p:spPr>
          <a:xfrm rot="1593903">
            <a:off x="1371600" y="2162175"/>
            <a:ext cx="447269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F3322-4472-48C4-B3F5-F125AEE3F31F}"/>
              </a:ext>
            </a:extLst>
          </p:cNvPr>
          <p:cNvSpPr>
            <a:spLocks noGrp="1"/>
          </p:cNvSpPr>
          <p:nvPr/>
        </p:nvSpPr>
        <p:spPr>
          <a:xfrm rot="1501014">
            <a:off x="1771650" y="1962150"/>
            <a:ext cx="473000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2D983F-59C3-4196-B02C-0A6095FDF29E}"/>
              </a:ext>
            </a:extLst>
          </p:cNvPr>
          <p:cNvSpPr>
            <a:spLocks noGrp="1"/>
          </p:cNvSpPr>
          <p:nvPr/>
        </p:nvSpPr>
        <p:spPr>
          <a:xfrm rot="-1501014">
            <a:off x="1771650" y="2362200"/>
            <a:ext cx="473000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06B34D-6F08-4D9B-9309-7B5E3C2B0767}"/>
              </a:ext>
            </a:extLst>
          </p:cNvPr>
          <p:cNvSpPr>
            <a:spLocks noGrp="1"/>
          </p:cNvSpPr>
          <p:nvPr/>
        </p:nvSpPr>
        <p:spPr>
          <a:xfrm rot="-1501014">
            <a:off x="2200275" y="2162175"/>
            <a:ext cx="473000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228D42-568B-496F-97D7-758EB535A5FA}"/>
              </a:ext>
            </a:extLst>
          </p:cNvPr>
          <p:cNvSpPr>
            <a:spLocks noGrp="1"/>
          </p:cNvSpPr>
          <p:nvPr/>
        </p:nvSpPr>
        <p:spPr>
          <a:xfrm rot="1501014">
            <a:off x="2200275" y="2162175"/>
            <a:ext cx="473000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C3C3839-CBD1-4604-8DFD-FC1350445803}"/>
              </a:ext>
            </a:extLst>
          </p:cNvPr>
          <p:cNvSpPr>
            <a:spLocks noGrp="1"/>
          </p:cNvSpPr>
          <p:nvPr/>
        </p:nvSpPr>
        <p:spPr>
          <a:xfrm>
            <a:off x="866775" y="1866900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0016840-0111-4B9F-AD2C-8838811D6289}"/>
              </a:ext>
            </a:extLst>
          </p:cNvPr>
          <p:cNvSpPr>
            <a:spLocks noGrp="1"/>
          </p:cNvSpPr>
          <p:nvPr/>
        </p:nvSpPr>
        <p:spPr>
          <a:xfrm>
            <a:off x="866775" y="2266950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DE2B61F-C447-42C9-8191-2AE192E61165}"/>
              </a:ext>
            </a:extLst>
          </p:cNvPr>
          <p:cNvSpPr>
            <a:spLocks noGrp="1"/>
          </p:cNvSpPr>
          <p:nvPr/>
        </p:nvSpPr>
        <p:spPr>
          <a:xfrm>
            <a:off x="1276350" y="2066925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39DE66C-6CF3-4FF9-8584-CC1C57BEC657}"/>
              </a:ext>
            </a:extLst>
          </p:cNvPr>
          <p:cNvSpPr>
            <a:spLocks noGrp="1"/>
          </p:cNvSpPr>
          <p:nvPr/>
        </p:nvSpPr>
        <p:spPr>
          <a:xfrm>
            <a:off x="1676400" y="1866900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A20A5C8-B509-44C6-9E31-939F5FD8D608}"/>
              </a:ext>
            </a:extLst>
          </p:cNvPr>
          <p:cNvSpPr>
            <a:spLocks noGrp="1"/>
          </p:cNvSpPr>
          <p:nvPr/>
        </p:nvSpPr>
        <p:spPr>
          <a:xfrm>
            <a:off x="1676400" y="2266950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509919C-4671-41B8-9727-A5B2E7089BEA}"/>
              </a:ext>
            </a:extLst>
          </p:cNvPr>
          <p:cNvSpPr>
            <a:spLocks noGrp="1"/>
          </p:cNvSpPr>
          <p:nvPr/>
        </p:nvSpPr>
        <p:spPr>
          <a:xfrm>
            <a:off x="2105025" y="2066925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49D1299-D78E-4363-B4E5-6B93A772B17C}"/>
              </a:ext>
            </a:extLst>
          </p:cNvPr>
          <p:cNvSpPr>
            <a:spLocks noGrp="1"/>
          </p:cNvSpPr>
          <p:nvPr/>
        </p:nvSpPr>
        <p:spPr>
          <a:xfrm>
            <a:off x="2533650" y="1866900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671528D-08CD-4A8D-AE94-1F69A09D46CE}"/>
              </a:ext>
            </a:extLst>
          </p:cNvPr>
          <p:cNvSpPr>
            <a:spLocks noGrp="1"/>
          </p:cNvSpPr>
          <p:nvPr/>
        </p:nvSpPr>
        <p:spPr>
          <a:xfrm>
            <a:off x="2533650" y="2266950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42B445-4707-453B-B2F6-8F79B5D41294}"/>
              </a:ext>
            </a:extLst>
          </p:cNvPr>
          <p:cNvSpPr>
            <a:spLocks noGrp="1"/>
          </p:cNvSpPr>
          <p:nvPr/>
        </p:nvSpPr>
        <p:spPr>
          <a:xfrm>
            <a:off x="4527773" y="1562672"/>
            <a:ext cx="2723172" cy="1352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ADE45FD-93DA-4CD1-BF94-4F1E3C56D44B}"/>
              </a:ext>
            </a:extLst>
          </p:cNvPr>
          <p:cNvSpPr>
            <a:spLocks noGrp="1"/>
          </p:cNvSpPr>
          <p:nvPr/>
        </p:nvSpPr>
        <p:spPr>
          <a:xfrm>
            <a:off x="4744244" y="1593850"/>
            <a:ext cx="211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Target CoT step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E3838BB-5134-482B-A518-98C787F452F9}"/>
              </a:ext>
            </a:extLst>
          </p:cNvPr>
          <p:cNvSpPr>
            <a:spLocks noGrp="1"/>
          </p:cNvSpPr>
          <p:nvPr/>
        </p:nvSpPr>
        <p:spPr>
          <a:xfrm>
            <a:off x="4532313" y="1967652"/>
            <a:ext cx="2613025" cy="638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 sentence-level step</a:t>
            </a:r>
          </a:p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from the generated rationale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C027200-788D-4507-866C-ED512FA69B64}"/>
              </a:ext>
            </a:extLst>
          </p:cNvPr>
          <p:cNvSpPr>
            <a:spLocks noGrp="1"/>
          </p:cNvSpPr>
          <p:nvPr/>
        </p:nvSpPr>
        <p:spPr>
          <a:xfrm>
            <a:off x="9055397" y="1628775"/>
            <a:ext cx="2190750" cy="1066800"/>
          </a:xfrm>
          <a:prstGeom prst="rect">
            <a:avLst/>
          </a:prstGeom>
          <a:solidFill>
            <a:srgbClr val="EEF4FF"/>
          </a:solidFill>
          <a:ln w="11430">
            <a:solidFill>
              <a:srgbClr val="0E419C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3A168D-BC3E-4098-9D0D-D5CF8D95D319}"/>
              </a:ext>
            </a:extLst>
          </p:cNvPr>
          <p:cNvSpPr>
            <a:spLocks noGrp="1"/>
          </p:cNvSpPr>
          <p:nvPr/>
        </p:nvSpPr>
        <p:spPr>
          <a:xfrm rot="1561776">
            <a:off x="9344026" y="1999125"/>
            <a:ext cx="455809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95F196A-EB9C-4307-9834-DBF1F07E95F0}"/>
              </a:ext>
            </a:extLst>
          </p:cNvPr>
          <p:cNvSpPr>
            <a:spLocks noGrp="1"/>
          </p:cNvSpPr>
          <p:nvPr/>
        </p:nvSpPr>
        <p:spPr>
          <a:xfrm rot="-1561776">
            <a:off x="9344026" y="2399175"/>
            <a:ext cx="455809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75251B-8913-4BFC-9230-38228EE7515C}"/>
              </a:ext>
            </a:extLst>
          </p:cNvPr>
          <p:cNvSpPr>
            <a:spLocks noGrp="1"/>
          </p:cNvSpPr>
          <p:nvPr/>
        </p:nvSpPr>
        <p:spPr>
          <a:xfrm rot="-1593903">
            <a:off x="9753601" y="2199150"/>
            <a:ext cx="447269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90EDFFA-C370-4F4B-9FC5-06815AB58966}"/>
              </a:ext>
            </a:extLst>
          </p:cNvPr>
          <p:cNvSpPr>
            <a:spLocks noGrp="1"/>
          </p:cNvSpPr>
          <p:nvPr/>
        </p:nvSpPr>
        <p:spPr>
          <a:xfrm rot="1593903">
            <a:off x="9753601" y="2199150"/>
            <a:ext cx="447269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EDB7869-599F-4C7C-B2BD-D7F9A3218A39}"/>
              </a:ext>
            </a:extLst>
          </p:cNvPr>
          <p:cNvSpPr>
            <a:spLocks noGrp="1"/>
          </p:cNvSpPr>
          <p:nvPr/>
        </p:nvSpPr>
        <p:spPr>
          <a:xfrm rot="1501014">
            <a:off x="10153651" y="1999125"/>
            <a:ext cx="473000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36A199F-8F7A-4FBF-8226-C02B2D2674F2}"/>
              </a:ext>
            </a:extLst>
          </p:cNvPr>
          <p:cNvSpPr>
            <a:spLocks noGrp="1"/>
          </p:cNvSpPr>
          <p:nvPr/>
        </p:nvSpPr>
        <p:spPr>
          <a:xfrm rot="-1501014">
            <a:off x="10153651" y="2399175"/>
            <a:ext cx="473000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D91B90F-D48A-42FF-AD3A-A1A38578D9C3}"/>
              </a:ext>
            </a:extLst>
          </p:cNvPr>
          <p:cNvSpPr>
            <a:spLocks noGrp="1"/>
          </p:cNvSpPr>
          <p:nvPr/>
        </p:nvSpPr>
        <p:spPr>
          <a:xfrm rot="-1501014">
            <a:off x="10582276" y="2199150"/>
            <a:ext cx="473000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3F31439-F3B5-4032-A67C-EEC11628E996}"/>
              </a:ext>
            </a:extLst>
          </p:cNvPr>
          <p:cNvSpPr>
            <a:spLocks noGrp="1"/>
          </p:cNvSpPr>
          <p:nvPr/>
        </p:nvSpPr>
        <p:spPr>
          <a:xfrm rot="1501014">
            <a:off x="10582276" y="2199150"/>
            <a:ext cx="473000" cy="12383"/>
          </a:xfrm>
          <a:prstGeom prst="rect">
            <a:avLst/>
          </a:prstGeom>
          <a:solidFill>
            <a:srgbClr val="2F55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EA7FEDAD-B385-4BC0-8289-8B727B96AAEB}"/>
              </a:ext>
            </a:extLst>
          </p:cNvPr>
          <p:cNvSpPr>
            <a:spLocks noGrp="1"/>
          </p:cNvSpPr>
          <p:nvPr/>
        </p:nvSpPr>
        <p:spPr>
          <a:xfrm>
            <a:off x="9248776" y="1903875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DD842A3-E01C-48BD-8191-EA95FB00B45F}"/>
              </a:ext>
            </a:extLst>
          </p:cNvPr>
          <p:cNvSpPr>
            <a:spLocks noGrp="1"/>
          </p:cNvSpPr>
          <p:nvPr/>
        </p:nvSpPr>
        <p:spPr>
          <a:xfrm>
            <a:off x="9248776" y="2303925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590FD833-8E1B-496A-883B-4068C20C7601}"/>
              </a:ext>
            </a:extLst>
          </p:cNvPr>
          <p:cNvSpPr>
            <a:spLocks noGrp="1"/>
          </p:cNvSpPr>
          <p:nvPr/>
        </p:nvSpPr>
        <p:spPr>
          <a:xfrm>
            <a:off x="9658351" y="2103900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6999A85-D823-41BF-A524-713DD5DDF6DA}"/>
              </a:ext>
            </a:extLst>
          </p:cNvPr>
          <p:cNvSpPr>
            <a:spLocks noGrp="1"/>
          </p:cNvSpPr>
          <p:nvPr/>
        </p:nvSpPr>
        <p:spPr>
          <a:xfrm>
            <a:off x="10058401" y="1903875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18FB4C4-70EF-435F-810C-C1BB43FE9829}"/>
              </a:ext>
            </a:extLst>
          </p:cNvPr>
          <p:cNvSpPr>
            <a:spLocks noGrp="1"/>
          </p:cNvSpPr>
          <p:nvPr/>
        </p:nvSpPr>
        <p:spPr>
          <a:xfrm>
            <a:off x="10058401" y="2303925"/>
            <a:ext cx="190500" cy="190500"/>
          </a:xfrm>
          <a:prstGeom prst="ellipse">
            <a:avLst/>
          </a:prstGeom>
          <a:solidFill>
            <a:srgbClr val="E85D5D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828D8B44-2377-4EB6-B8CA-EA32810AFDE5}"/>
              </a:ext>
            </a:extLst>
          </p:cNvPr>
          <p:cNvSpPr>
            <a:spLocks noGrp="1"/>
          </p:cNvSpPr>
          <p:nvPr/>
        </p:nvSpPr>
        <p:spPr>
          <a:xfrm>
            <a:off x="10487026" y="2103900"/>
            <a:ext cx="190500" cy="190500"/>
          </a:xfrm>
          <a:prstGeom prst="ellipse">
            <a:avLst/>
          </a:prstGeom>
          <a:solidFill>
            <a:srgbClr val="D9EA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CA2C6AC9-6BEA-4932-A126-D1910C86B63B}"/>
              </a:ext>
            </a:extLst>
          </p:cNvPr>
          <p:cNvSpPr>
            <a:spLocks noGrp="1"/>
          </p:cNvSpPr>
          <p:nvPr/>
        </p:nvSpPr>
        <p:spPr>
          <a:xfrm>
            <a:off x="10915651" y="1903875"/>
            <a:ext cx="190500" cy="190500"/>
          </a:xfrm>
          <a:prstGeom prst="ellipse">
            <a:avLst/>
          </a:prstGeom>
          <a:solidFill>
            <a:srgbClr val="E85D5D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7C92BCB6-CB4A-4720-8005-2068EEA07701}"/>
              </a:ext>
            </a:extLst>
          </p:cNvPr>
          <p:cNvSpPr>
            <a:spLocks noGrp="1"/>
          </p:cNvSpPr>
          <p:nvPr/>
        </p:nvSpPr>
        <p:spPr>
          <a:xfrm>
            <a:off x="10915651" y="2303925"/>
            <a:ext cx="190500" cy="190500"/>
          </a:xfrm>
          <a:prstGeom prst="ellipse">
            <a:avLst/>
          </a:prstGeom>
          <a:solidFill>
            <a:srgbClr val="E85D5D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7E310BE-F01C-47BE-A426-D2C90A42E248}"/>
              </a:ext>
            </a:extLst>
          </p:cNvPr>
          <p:cNvSpPr>
            <a:spLocks noGrp="1"/>
          </p:cNvSpPr>
          <p:nvPr/>
        </p:nvSpPr>
        <p:spPr>
          <a:xfrm flipV="1">
            <a:off x="3025639" y="2194768"/>
            <a:ext cx="983929" cy="45719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C9F6801-E92F-4368-9895-84768FE5C961}"/>
              </a:ext>
            </a:extLst>
          </p:cNvPr>
          <p:cNvSpPr>
            <a:spLocks noGrp="1"/>
          </p:cNvSpPr>
          <p:nvPr/>
        </p:nvSpPr>
        <p:spPr>
          <a:xfrm>
            <a:off x="4012879" y="2073918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45A12D5-CAC2-4620-ADF0-8CB22A138A4A}"/>
              </a:ext>
            </a:extLst>
          </p:cNvPr>
          <p:cNvSpPr>
            <a:spLocks noGrp="1"/>
          </p:cNvSpPr>
          <p:nvPr/>
        </p:nvSpPr>
        <p:spPr>
          <a:xfrm flipV="1">
            <a:off x="7667921" y="2239253"/>
            <a:ext cx="946447" cy="45719"/>
          </a:xfrm>
          <a:prstGeom prst="rect">
            <a:avLst/>
          </a:prstGeom>
          <a:solidFill>
            <a:srgbClr val="C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B3E0686-6C96-476E-9554-483312EFD0EE}"/>
              </a:ext>
            </a:extLst>
          </p:cNvPr>
          <p:cNvSpPr>
            <a:spLocks noGrp="1"/>
          </p:cNvSpPr>
          <p:nvPr/>
        </p:nvSpPr>
        <p:spPr>
          <a:xfrm>
            <a:off x="8595318" y="2118605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C00000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C00000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463B5DA-6677-4D4E-AE87-9E0129997FCB}"/>
              </a:ext>
            </a:extLst>
          </p:cNvPr>
          <p:cNvSpPr>
            <a:spLocks noGrp="1"/>
          </p:cNvSpPr>
          <p:nvPr/>
        </p:nvSpPr>
        <p:spPr>
          <a:xfrm>
            <a:off x="7540921" y="1808625"/>
            <a:ext cx="120590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00000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unlearn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01C62A8-8690-4BFC-9420-16A4CAEA8FDD}"/>
              </a:ext>
            </a:extLst>
          </p:cNvPr>
          <p:cNvSpPr>
            <a:spLocks noGrp="1"/>
          </p:cNvSpPr>
          <p:nvPr/>
        </p:nvSpPr>
        <p:spPr>
          <a:xfrm>
            <a:off x="2190749" y="4402718"/>
            <a:ext cx="842963" cy="112395"/>
          </a:xfrm>
          <a:prstGeom prst="rect">
            <a:avLst/>
          </a:prstGeom>
          <a:solidFill>
            <a:srgbClr val="B9C9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848D6CA-E75B-4B25-BB5C-ACC85B4C2B84}"/>
              </a:ext>
            </a:extLst>
          </p:cNvPr>
          <p:cNvSpPr>
            <a:spLocks noGrp="1"/>
          </p:cNvSpPr>
          <p:nvPr/>
        </p:nvSpPr>
        <p:spPr>
          <a:xfrm>
            <a:off x="2190749" y="4591313"/>
            <a:ext cx="84296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29C5A61-33C3-4E44-8B5E-731B720D51B4}"/>
              </a:ext>
            </a:extLst>
          </p:cNvPr>
          <p:cNvSpPr>
            <a:spLocks noGrp="1"/>
          </p:cNvSpPr>
          <p:nvPr/>
        </p:nvSpPr>
        <p:spPr>
          <a:xfrm>
            <a:off x="3167062" y="4312802"/>
            <a:ext cx="842963" cy="202311"/>
          </a:xfrm>
          <a:prstGeom prst="rect">
            <a:avLst/>
          </a:prstGeom>
          <a:solidFill>
            <a:srgbClr val="B9C9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C638F5C-07D8-4C34-AD9F-7B1937969FA5}"/>
              </a:ext>
            </a:extLst>
          </p:cNvPr>
          <p:cNvSpPr>
            <a:spLocks noGrp="1"/>
          </p:cNvSpPr>
          <p:nvPr/>
        </p:nvSpPr>
        <p:spPr>
          <a:xfrm>
            <a:off x="3167062" y="4591313"/>
            <a:ext cx="84296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B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04D8B9D-65C9-4ED8-920B-B0151BA9E7AA}"/>
              </a:ext>
            </a:extLst>
          </p:cNvPr>
          <p:cNvSpPr>
            <a:spLocks noGrp="1"/>
          </p:cNvSpPr>
          <p:nvPr/>
        </p:nvSpPr>
        <p:spPr>
          <a:xfrm>
            <a:off x="4143374" y="3481079"/>
            <a:ext cx="842963" cy="1034034"/>
          </a:xfrm>
          <a:prstGeom prst="rect">
            <a:avLst/>
          </a:prstGeom>
          <a:solidFill>
            <a:srgbClr val="00B0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236726B-E1D6-469D-A3F4-DDE377B431A9}"/>
              </a:ext>
            </a:extLst>
          </p:cNvPr>
          <p:cNvSpPr>
            <a:spLocks noGrp="1"/>
          </p:cNvSpPr>
          <p:nvPr/>
        </p:nvSpPr>
        <p:spPr>
          <a:xfrm>
            <a:off x="4143374" y="4591313"/>
            <a:ext cx="84296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6CAAE88-0E81-47BD-A777-E3A351DF3A0D}"/>
              </a:ext>
            </a:extLst>
          </p:cNvPr>
          <p:cNvSpPr>
            <a:spLocks noGrp="1"/>
          </p:cNvSpPr>
          <p:nvPr/>
        </p:nvSpPr>
        <p:spPr>
          <a:xfrm>
            <a:off x="5119687" y="4267844"/>
            <a:ext cx="842963" cy="247269"/>
          </a:xfrm>
          <a:prstGeom prst="rect">
            <a:avLst/>
          </a:prstGeom>
          <a:solidFill>
            <a:srgbClr val="B9C9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355661D-94DC-491B-A6E1-E1550CD78E39}"/>
              </a:ext>
            </a:extLst>
          </p:cNvPr>
          <p:cNvSpPr>
            <a:spLocks noGrp="1"/>
          </p:cNvSpPr>
          <p:nvPr/>
        </p:nvSpPr>
        <p:spPr>
          <a:xfrm>
            <a:off x="5119687" y="4591313"/>
            <a:ext cx="84296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BCF59D-3CB6-4E1D-AE13-D66C0C7748E4}"/>
              </a:ext>
            </a:extLst>
          </p:cNvPr>
          <p:cNvSpPr>
            <a:spLocks noGrp="1"/>
          </p:cNvSpPr>
          <p:nvPr/>
        </p:nvSpPr>
        <p:spPr>
          <a:xfrm>
            <a:off x="6162674" y="4187532"/>
            <a:ext cx="4572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F53ED2F-3585-4FF6-B144-41863F229A17}"/>
              </a:ext>
            </a:extLst>
          </p:cNvPr>
          <p:cNvSpPr>
            <a:spLocks noGrp="1"/>
          </p:cNvSpPr>
          <p:nvPr/>
        </p:nvSpPr>
        <p:spPr>
          <a:xfrm>
            <a:off x="6600824" y="4073232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738F781-3658-4BA9-BE1B-971438A20212}"/>
              </a:ext>
            </a:extLst>
          </p:cNvPr>
          <p:cNvSpPr>
            <a:spLocks noGrp="1"/>
          </p:cNvSpPr>
          <p:nvPr/>
        </p:nvSpPr>
        <p:spPr>
          <a:xfrm>
            <a:off x="7029449" y="3863222"/>
            <a:ext cx="461963" cy="651891"/>
          </a:xfrm>
          <a:prstGeom prst="rect">
            <a:avLst/>
          </a:prstGeom>
          <a:solidFill>
            <a:srgbClr val="00B0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70A750D-A1DD-4F88-BDAD-2098925E3355}"/>
              </a:ext>
            </a:extLst>
          </p:cNvPr>
          <p:cNvSpPr>
            <a:spLocks noGrp="1"/>
          </p:cNvSpPr>
          <p:nvPr/>
        </p:nvSpPr>
        <p:spPr>
          <a:xfrm>
            <a:off x="7029449" y="4591313"/>
            <a:ext cx="46196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F7287F6-B175-493A-8FA0-EA6D74DB680C}"/>
              </a:ext>
            </a:extLst>
          </p:cNvPr>
          <p:cNvSpPr>
            <a:spLocks noGrp="1"/>
          </p:cNvSpPr>
          <p:nvPr/>
        </p:nvSpPr>
        <p:spPr>
          <a:xfrm>
            <a:off x="7624762" y="4290323"/>
            <a:ext cx="461963" cy="224790"/>
          </a:xfrm>
          <a:prstGeom prst="rect">
            <a:avLst/>
          </a:prstGeom>
          <a:solidFill>
            <a:srgbClr val="B9C9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82FDB2C-0B9D-4E96-8706-40E598262ACE}"/>
              </a:ext>
            </a:extLst>
          </p:cNvPr>
          <p:cNvSpPr>
            <a:spLocks noGrp="1"/>
          </p:cNvSpPr>
          <p:nvPr/>
        </p:nvSpPr>
        <p:spPr>
          <a:xfrm>
            <a:off x="7624762" y="4591313"/>
            <a:ext cx="46196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B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777100D-B436-405D-9A7D-B37AEACA1394}"/>
              </a:ext>
            </a:extLst>
          </p:cNvPr>
          <p:cNvSpPr>
            <a:spLocks noGrp="1"/>
          </p:cNvSpPr>
          <p:nvPr/>
        </p:nvSpPr>
        <p:spPr>
          <a:xfrm>
            <a:off x="8220074" y="4132970"/>
            <a:ext cx="461963" cy="382143"/>
          </a:xfrm>
          <a:prstGeom prst="rect">
            <a:avLst/>
          </a:prstGeom>
          <a:solidFill>
            <a:srgbClr val="B9C9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B6924D5-9B6F-4E58-845B-46E71F8D3DAD}"/>
              </a:ext>
            </a:extLst>
          </p:cNvPr>
          <p:cNvSpPr>
            <a:spLocks noGrp="1"/>
          </p:cNvSpPr>
          <p:nvPr/>
        </p:nvSpPr>
        <p:spPr>
          <a:xfrm>
            <a:off x="8220074" y="4591313"/>
            <a:ext cx="46196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71006D9-E0D2-4A69-B62F-9B490F7F79B2}"/>
              </a:ext>
            </a:extLst>
          </p:cNvPr>
          <p:cNvSpPr>
            <a:spLocks noGrp="1"/>
          </p:cNvSpPr>
          <p:nvPr/>
        </p:nvSpPr>
        <p:spPr>
          <a:xfrm>
            <a:off x="8815387" y="4312802"/>
            <a:ext cx="461963" cy="202311"/>
          </a:xfrm>
          <a:prstGeom prst="rect">
            <a:avLst/>
          </a:prstGeom>
          <a:solidFill>
            <a:srgbClr val="B9C9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0B43BE3-CB39-48E7-A052-541EA6BA4D85}"/>
              </a:ext>
            </a:extLst>
          </p:cNvPr>
          <p:cNvSpPr>
            <a:spLocks noGrp="1"/>
          </p:cNvSpPr>
          <p:nvPr/>
        </p:nvSpPr>
        <p:spPr>
          <a:xfrm>
            <a:off x="8815387" y="4591313"/>
            <a:ext cx="46196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881ECA9-9007-4E96-AB06-3DCE6B37F07C}"/>
              </a:ext>
            </a:extLst>
          </p:cNvPr>
          <p:cNvSpPr>
            <a:spLocks noGrp="1"/>
          </p:cNvSpPr>
          <p:nvPr/>
        </p:nvSpPr>
        <p:spPr>
          <a:xfrm>
            <a:off x="1466850" y="5015747"/>
            <a:ext cx="9525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If the original answer loses enough probability after a precise intervention, the step is evidence of parametric faithfulness.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7874AB0-C933-4D69-B636-795D7FF2F899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Tutek et al. (2025), Figure 1 concept recreated as editable shapes.</a:t>
            </a:r>
          </a:p>
        </p:txBody>
      </p:sp>
    </p:spTree>
    <p:extLst>
      <p:ext uri="{BB962C8B-B14F-4D97-AF65-F5344CB8AC3E}">
        <p14:creationId xmlns:p14="http://schemas.microsoft.com/office/powerpoint/2010/main" val="1880004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699326C6-6F40-41E0-B7C0-204EDEF6A0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AECDA5-5E68-4CF2-9CEB-3CDAD6A59FC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PFF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B3AF6E-A30B-464B-ABF2-A797AD7CE3C4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The Parametric Faithfulness Framework separates intervention from evaluation.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0CB885-5663-4DF8-A8BF-9C78C9E3D5DA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DAF2C4-D9E5-44E9-810B-DE167B4ABDA3}"/>
              </a:ext>
            </a:extLst>
          </p:cNvPr>
          <p:cNvSpPr>
            <a:spLocks noGrp="1"/>
          </p:cNvSpPr>
          <p:nvPr/>
        </p:nvSpPr>
        <p:spPr>
          <a:xfrm>
            <a:off x="748145" y="1619250"/>
            <a:ext cx="3042805" cy="19812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2D469D-5ED3-436C-BBC8-C8B4A1F260B7}"/>
              </a:ext>
            </a:extLst>
          </p:cNvPr>
          <p:cNvSpPr>
            <a:spLocks noGrp="1"/>
          </p:cNvSpPr>
          <p:nvPr/>
        </p:nvSpPr>
        <p:spPr>
          <a:xfrm>
            <a:off x="857250" y="17335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Stage 1: Intervention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798377-8F4D-4AC9-92AD-03C0D0A7D753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25908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Edit model parameters so that the target reasoning information is erased.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020B64-26DB-4B25-8298-CF1D5A589E6F}"/>
              </a:ext>
            </a:extLst>
          </p:cNvPr>
          <p:cNvSpPr>
            <a:spLocks noGrp="1"/>
          </p:cNvSpPr>
          <p:nvPr/>
        </p:nvSpPr>
        <p:spPr>
          <a:xfrm>
            <a:off x="4000500" y="2343150"/>
            <a:ext cx="6096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47202C-DA02-4850-8FE9-5C40B7C1B651}"/>
              </a:ext>
            </a:extLst>
          </p:cNvPr>
          <p:cNvSpPr>
            <a:spLocks noGrp="1"/>
          </p:cNvSpPr>
          <p:nvPr/>
        </p:nvSpPr>
        <p:spPr>
          <a:xfrm>
            <a:off x="4591050" y="2228850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60C65A-FFD6-44B3-9047-A544AB18CCCE}"/>
              </a:ext>
            </a:extLst>
          </p:cNvPr>
          <p:cNvSpPr>
            <a:spLocks noGrp="1"/>
          </p:cNvSpPr>
          <p:nvPr/>
        </p:nvSpPr>
        <p:spPr>
          <a:xfrm>
            <a:off x="4953000" y="1619250"/>
            <a:ext cx="2857500" cy="19812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D9E2BD-EDA7-4A13-9E2F-3482198C2B93}"/>
              </a:ext>
            </a:extLst>
          </p:cNvPr>
          <p:cNvSpPr>
            <a:spLocks noGrp="1"/>
          </p:cNvSpPr>
          <p:nvPr/>
        </p:nvSpPr>
        <p:spPr>
          <a:xfrm>
            <a:off x="5086350" y="1733550"/>
            <a:ext cx="2590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Controls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0BB74A-83B9-4E64-9E80-1711724BDF4D}"/>
              </a:ext>
            </a:extLst>
          </p:cNvPr>
          <p:cNvSpPr>
            <a:spLocks noGrp="1"/>
          </p:cNvSpPr>
          <p:nvPr/>
        </p:nvSpPr>
        <p:spPr>
          <a:xfrm>
            <a:off x="5086350" y="2143125"/>
            <a:ext cx="25908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Check that the edit was targeted and did not broadly damage the model.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7A19E9-C2F3-4045-B777-EE702BFD84C2}"/>
              </a:ext>
            </a:extLst>
          </p:cNvPr>
          <p:cNvSpPr>
            <a:spLocks noGrp="1"/>
          </p:cNvSpPr>
          <p:nvPr/>
        </p:nvSpPr>
        <p:spPr>
          <a:xfrm>
            <a:off x="8096250" y="2343150"/>
            <a:ext cx="6096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DACA0A-0E92-45C1-9DE0-1681D05D1A24}"/>
              </a:ext>
            </a:extLst>
          </p:cNvPr>
          <p:cNvSpPr>
            <a:spLocks noGrp="1"/>
          </p:cNvSpPr>
          <p:nvPr/>
        </p:nvSpPr>
        <p:spPr>
          <a:xfrm>
            <a:off x="8686800" y="2228850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91E6D2-15E0-4784-821C-D9C35E765CC9}"/>
              </a:ext>
            </a:extLst>
          </p:cNvPr>
          <p:cNvSpPr>
            <a:spLocks noGrp="1"/>
          </p:cNvSpPr>
          <p:nvPr/>
        </p:nvSpPr>
        <p:spPr>
          <a:xfrm>
            <a:off x="8991600" y="1619250"/>
            <a:ext cx="2695576" cy="1981199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795FBC-9461-4C77-9E62-79227FC3C55B}"/>
              </a:ext>
            </a:extLst>
          </p:cNvPr>
          <p:cNvSpPr>
            <a:spLocks noGrp="1"/>
          </p:cNvSpPr>
          <p:nvPr/>
        </p:nvSpPr>
        <p:spPr>
          <a:xfrm>
            <a:off x="9048750" y="1714500"/>
            <a:ext cx="25622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Stage 2: Evaluation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57A090-2D9B-416C-8F12-7282F2C17A7F}"/>
              </a:ext>
            </a:extLst>
          </p:cNvPr>
          <p:cNvSpPr>
            <a:spLocks noGrp="1"/>
          </p:cNvSpPr>
          <p:nvPr/>
        </p:nvSpPr>
        <p:spPr>
          <a:xfrm>
            <a:off x="9314007" y="2143125"/>
            <a:ext cx="20193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Measure answer or reasoning change after the edit.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9665C4-D13F-4A70-BE38-F178CA7A1FC6}"/>
              </a:ext>
            </a:extLst>
          </p:cNvPr>
          <p:cNvSpPr>
            <a:spLocks noGrp="1"/>
          </p:cNvSpPr>
          <p:nvPr/>
        </p:nvSpPr>
        <p:spPr>
          <a:xfrm>
            <a:off x="1371600" y="3790949"/>
            <a:ext cx="9258300" cy="1428747"/>
          </a:xfrm>
          <a:prstGeom prst="rect">
            <a:avLst/>
          </a:prstGeom>
          <a:solidFill>
            <a:srgbClr val="F9FBFF"/>
          </a:solidFill>
          <a:ln w="11430">
            <a:solidFill>
              <a:srgbClr val="D8E2F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4E7A773-170F-4500-92E8-345FB455A11D}"/>
              </a:ext>
            </a:extLst>
          </p:cNvPr>
          <p:cNvSpPr>
            <a:spLocks noGrp="1"/>
          </p:cNvSpPr>
          <p:nvPr/>
        </p:nvSpPr>
        <p:spPr>
          <a:xfrm>
            <a:off x="1543050" y="3962400"/>
            <a:ext cx="89154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This framework can be instantiated with different parameter interventions. FUR is one concrete instantiation using machine unlearning.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4B2D24-6317-4BF0-A961-CC747941CAC2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Tutek et al. (2025), Section 3 and Figure 2.</a:t>
            </a:r>
          </a:p>
        </p:txBody>
      </p:sp>
    </p:spTree>
    <p:extLst>
      <p:ext uri="{BB962C8B-B14F-4D97-AF65-F5344CB8AC3E}">
        <p14:creationId xmlns:p14="http://schemas.microsoft.com/office/powerpoint/2010/main" val="1642609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A9F826F4-1F1F-445B-808E-E30CC37837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72A338-5D35-40FF-9EB9-66BF6D3A3640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FUR Workflow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ED6A16-A53E-43C6-8D5A-CD2B9D6FDF34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Faithfulness by Unlearning Reasoning steps tests each CoT step independently.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FD048D-66A3-4985-BCAA-8114B433F823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A91C70-4DE7-4154-A6D3-FF46CDECB144}"/>
              </a:ext>
            </a:extLst>
          </p:cNvPr>
          <p:cNvSpPr>
            <a:spLocks noGrp="1"/>
          </p:cNvSpPr>
          <p:nvPr/>
        </p:nvSpPr>
        <p:spPr>
          <a:xfrm>
            <a:off x="542925" y="1676399"/>
            <a:ext cx="1905000" cy="2152649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CA48A9-1FF8-4E80-AC60-A10C3453AD3B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1. Generate </a:t>
            </a:r>
            <a:r>
              <a:rPr sz="2000" b="1" dirty="0" err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CoT</a:t>
            </a:r>
            <a:endParaRPr sz="2000" b="1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5B9070-2AB6-4D5E-AA38-7BAB525477FC}"/>
              </a:ext>
            </a:extLst>
          </p:cNvPr>
          <p:cNvSpPr>
            <a:spLocks noGrp="1"/>
          </p:cNvSpPr>
          <p:nvPr/>
        </p:nvSpPr>
        <p:spPr>
          <a:xfrm>
            <a:off x="570634" y="2747962"/>
            <a:ext cx="18954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Prompt the model to reason and answer.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BA7AE6-2E94-47D0-ACBE-70BEE46AAD93}"/>
              </a:ext>
            </a:extLst>
          </p:cNvPr>
          <p:cNvSpPr>
            <a:spLocks noGrp="1"/>
          </p:cNvSpPr>
          <p:nvPr/>
        </p:nvSpPr>
        <p:spPr>
          <a:xfrm>
            <a:off x="2428875" y="2381250"/>
            <a:ext cx="161925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ECF3E6-EB8F-4E56-A2BE-6905837F053F}"/>
              </a:ext>
            </a:extLst>
          </p:cNvPr>
          <p:cNvSpPr>
            <a:spLocks noGrp="1"/>
          </p:cNvSpPr>
          <p:nvPr/>
        </p:nvSpPr>
        <p:spPr>
          <a:xfrm>
            <a:off x="2571750" y="2266950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6A72B1-FED0-4ABA-9702-3C75E20B317A}"/>
              </a:ext>
            </a:extLst>
          </p:cNvPr>
          <p:cNvSpPr>
            <a:spLocks noGrp="1"/>
          </p:cNvSpPr>
          <p:nvPr/>
        </p:nvSpPr>
        <p:spPr>
          <a:xfrm>
            <a:off x="2809875" y="1676400"/>
            <a:ext cx="1819275" cy="215265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A3B4DD-8BDB-4EB0-A4F0-CB8158FC3351}"/>
              </a:ext>
            </a:extLst>
          </p:cNvPr>
          <p:cNvSpPr>
            <a:spLocks noGrp="1"/>
          </p:cNvSpPr>
          <p:nvPr/>
        </p:nvSpPr>
        <p:spPr>
          <a:xfrm>
            <a:off x="2971800" y="17907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2. Segment steps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252B8A-54DE-41A5-B7A6-B587862D06BB}"/>
              </a:ext>
            </a:extLst>
          </p:cNvPr>
          <p:cNvSpPr>
            <a:spLocks noGrp="1"/>
          </p:cNvSpPr>
          <p:nvPr/>
        </p:nvSpPr>
        <p:spPr>
          <a:xfrm>
            <a:off x="2867025" y="2541298"/>
            <a:ext cx="176212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Split the chain into sentence-level reasoning steps.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08590F-5E24-46A0-B765-78540D1A73C3}"/>
              </a:ext>
            </a:extLst>
          </p:cNvPr>
          <p:cNvSpPr>
            <a:spLocks noGrp="1"/>
          </p:cNvSpPr>
          <p:nvPr/>
        </p:nvSpPr>
        <p:spPr>
          <a:xfrm>
            <a:off x="4676775" y="2381250"/>
            <a:ext cx="161925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76D82A-5968-4836-8C30-CE1B82BB3DEB}"/>
              </a:ext>
            </a:extLst>
          </p:cNvPr>
          <p:cNvSpPr>
            <a:spLocks noGrp="1"/>
          </p:cNvSpPr>
          <p:nvPr/>
        </p:nvSpPr>
        <p:spPr>
          <a:xfrm>
            <a:off x="4819650" y="2266950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EDA650-CB85-4530-82EA-E91BE8A0B781}"/>
              </a:ext>
            </a:extLst>
          </p:cNvPr>
          <p:cNvSpPr>
            <a:spLocks noGrp="1"/>
          </p:cNvSpPr>
          <p:nvPr/>
        </p:nvSpPr>
        <p:spPr>
          <a:xfrm>
            <a:off x="5076825" y="1676400"/>
            <a:ext cx="1800225" cy="2152650"/>
          </a:xfrm>
          <a:prstGeom prst="rect">
            <a:avLst/>
          </a:prstGeom>
          <a:solidFill>
            <a:srgbClr val="EEF4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267ED8-6891-4627-8B4C-EABD4D3704B4}"/>
              </a:ext>
            </a:extLst>
          </p:cNvPr>
          <p:cNvSpPr>
            <a:spLocks noGrp="1"/>
          </p:cNvSpPr>
          <p:nvPr/>
        </p:nvSpPr>
        <p:spPr>
          <a:xfrm>
            <a:off x="5219700" y="17907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3. Unlearn step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815C20-1602-4EE9-AE50-F1808D61944E}"/>
              </a:ext>
            </a:extLst>
          </p:cNvPr>
          <p:cNvSpPr>
            <a:spLocks noGrp="1"/>
          </p:cNvSpPr>
          <p:nvPr/>
        </p:nvSpPr>
        <p:spPr>
          <a:xfrm>
            <a:off x="5114925" y="2552700"/>
            <a:ext cx="17907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Fine-tune only on content tokens from that step.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91F0BD-8451-42EA-AEBE-CB1B7B7CAAF2}"/>
              </a:ext>
            </a:extLst>
          </p:cNvPr>
          <p:cNvSpPr>
            <a:spLocks noGrp="1"/>
          </p:cNvSpPr>
          <p:nvPr/>
        </p:nvSpPr>
        <p:spPr>
          <a:xfrm>
            <a:off x="6924675" y="2381250"/>
            <a:ext cx="1619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8C94BA-3EA3-4058-BF27-7DBDC3D40779}"/>
              </a:ext>
            </a:extLst>
          </p:cNvPr>
          <p:cNvSpPr>
            <a:spLocks noGrp="1"/>
          </p:cNvSpPr>
          <p:nvPr/>
        </p:nvSpPr>
        <p:spPr>
          <a:xfrm>
            <a:off x="7067550" y="2266950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C00000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C00000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EA4965-F95C-4C31-8DEC-F5DB34493A69}"/>
              </a:ext>
            </a:extLst>
          </p:cNvPr>
          <p:cNvSpPr>
            <a:spLocks noGrp="1"/>
          </p:cNvSpPr>
          <p:nvPr/>
        </p:nvSpPr>
        <p:spPr>
          <a:xfrm>
            <a:off x="7334250" y="1676400"/>
            <a:ext cx="1790700" cy="2152648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C5D5B1-0744-4DE0-88E8-2F6FCD827CEF}"/>
              </a:ext>
            </a:extLst>
          </p:cNvPr>
          <p:cNvSpPr>
            <a:spLocks noGrp="1"/>
          </p:cNvSpPr>
          <p:nvPr/>
        </p:nvSpPr>
        <p:spPr>
          <a:xfrm>
            <a:off x="7467600" y="17907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4. Ask directly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F80579-CFF9-403D-8F67-8946C5990179}"/>
              </a:ext>
            </a:extLst>
          </p:cNvPr>
          <p:cNvSpPr>
            <a:spLocks noGrp="1"/>
          </p:cNvSpPr>
          <p:nvPr/>
        </p:nvSpPr>
        <p:spPr>
          <a:xfrm>
            <a:off x="7267575" y="2541298"/>
            <a:ext cx="1857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Query the edited model without </a:t>
            </a:r>
            <a:r>
              <a:rPr sz="200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CoT</a:t>
            </a:r>
            <a:r>
              <a:rPr sz="200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context.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9C2848-95CF-4847-AAE4-03F5766E12A1}"/>
              </a:ext>
            </a:extLst>
          </p:cNvPr>
          <p:cNvSpPr>
            <a:spLocks noGrp="1"/>
          </p:cNvSpPr>
          <p:nvPr/>
        </p:nvSpPr>
        <p:spPr>
          <a:xfrm>
            <a:off x="9172575" y="2381250"/>
            <a:ext cx="161925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A8F81A-AC4E-40F7-8946-97D4386D19F6}"/>
              </a:ext>
            </a:extLst>
          </p:cNvPr>
          <p:cNvSpPr>
            <a:spLocks noGrp="1"/>
          </p:cNvSpPr>
          <p:nvPr/>
        </p:nvSpPr>
        <p:spPr>
          <a:xfrm>
            <a:off x="9315450" y="2266950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3B3DF9-F25C-4646-BDCF-D1973A97BCCB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1790700" cy="2152648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C270E9-E4DB-481C-9438-03C06C94C8CB}"/>
              </a:ext>
            </a:extLst>
          </p:cNvPr>
          <p:cNvSpPr>
            <a:spLocks noGrp="1"/>
          </p:cNvSpPr>
          <p:nvPr/>
        </p:nvSpPr>
        <p:spPr>
          <a:xfrm>
            <a:off x="9715500" y="17907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5. Compare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011B8A-AA86-4A6E-9D46-CA885AF72FCB}"/>
              </a:ext>
            </a:extLst>
          </p:cNvPr>
          <p:cNvSpPr>
            <a:spLocks noGrp="1"/>
          </p:cNvSpPr>
          <p:nvPr/>
        </p:nvSpPr>
        <p:spPr>
          <a:xfrm>
            <a:off x="9572625" y="2533650"/>
            <a:ext cx="17907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Measure prediction and probability shifts.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EBDBE27-7540-444C-A275-44BFFF57FD4F}"/>
              </a:ext>
            </a:extLst>
          </p:cNvPr>
          <p:cNvSpPr>
            <a:spLocks noGrp="1"/>
          </p:cNvSpPr>
          <p:nvPr/>
        </p:nvSpPr>
        <p:spPr>
          <a:xfrm>
            <a:off x="1466850" y="413385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A </a:t>
            </a:r>
            <a:r>
              <a:rPr sz="2400" b="1" dirty="0" err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CoT</a:t>
            </a: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 is faithful if at least one precisely unlearned step changes the underlying prediction.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7E87070-F5D2-4CB7-B5F2-1C4ECB8C5271}"/>
              </a:ext>
            </a:extLst>
          </p:cNvPr>
          <p:cNvSpPr>
            <a:spLocks noGrp="1"/>
          </p:cNvSpPr>
          <p:nvPr/>
        </p:nvSpPr>
        <p:spPr>
          <a:xfrm>
            <a:off x="1752600" y="5072063"/>
            <a:ext cx="8572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95959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595959"/>
                </a:solidFill>
                <a:latin typeface="Tahoma"/>
                <a:ea typeface="Tahoma"/>
                <a:cs typeface="Tahoma"/>
              </a:rPr>
              <a:t>Stepwise unlearning also lets FF-SOFT identify which step carried the most answer-supporting probability mass.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4CFB4B-588E-4D93-8A48-6C28E004A8AB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Tutek et al. (2025), Section 4.</a:t>
            </a:r>
          </a:p>
        </p:txBody>
      </p: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832D16D1-186C-27C4-8882-1215BDF95C0A}"/>
              </a:ext>
            </a:extLst>
          </p:cNvPr>
          <p:cNvCxnSpPr>
            <a:stCxn id="20" idx="0"/>
          </p:cNvCxnSpPr>
          <p:nvPr/>
        </p:nvCxnSpPr>
        <p:spPr>
          <a:xfrm rot="5400000" flipH="1" flipV="1">
            <a:off x="8268855" y="1161473"/>
            <a:ext cx="475673" cy="55418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F58780E-1108-7BDF-1977-A349E5B37408}"/>
              </a:ext>
            </a:extLst>
          </p:cNvPr>
          <p:cNvSpPr txBox="1"/>
          <p:nvPr/>
        </p:nvSpPr>
        <p:spPr>
          <a:xfrm>
            <a:off x="8783783" y="984766"/>
            <a:ext cx="2109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Why? (See</a:t>
            </a:r>
            <a:r>
              <a:rPr lang="zh-CN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zh-C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p12)</a:t>
            </a:r>
            <a:endParaRPr lang="zh-CN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60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6DAE5903-0D4A-4C0D-9B12-D4DCC09AA0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D585D4-459F-4121-A903-EB0AE0CDF12B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Unlearning Objective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793B88-BB5F-4034-A38B-A3B55B6D8852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The paper instantiates PFF with NPO plus a retain-side KL regularizer.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048E37-016F-4DCC-A9AB-B5D233DE938A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E76B4F-C2F4-41B0-8D94-C4FBCD1A6B3A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4191000" cy="1695450"/>
          </a:xfrm>
          <a:prstGeom prst="rect">
            <a:avLst/>
          </a:prstGeom>
          <a:solidFill>
            <a:srgbClr val="FFFFFF"/>
          </a:solidFill>
          <a:ln w="11430">
            <a:solidFill>
              <a:srgbClr val="B7C7E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33DF61-20F2-47C1-8E24-387F1F123F2F}"/>
              </a:ext>
            </a:extLst>
          </p:cNvPr>
          <p:cNvSpPr>
            <a:spLocks noGrp="1"/>
          </p:cNvSpPr>
          <p:nvPr/>
        </p:nvSpPr>
        <p:spPr>
          <a:xfrm>
            <a:off x="1238250" y="2533650"/>
            <a:ext cx="3848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Forget side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8E24BB-ED56-4101-980A-7EF21BAD4C3C}"/>
              </a:ext>
            </a:extLst>
          </p:cNvPr>
          <p:cNvSpPr>
            <a:spLocks noGrp="1"/>
          </p:cNvSpPr>
          <p:nvPr/>
        </p:nvSpPr>
        <p:spPr>
          <a:xfrm>
            <a:off x="1238250" y="2981325"/>
            <a:ext cx="38481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Discourage the edited model M* from assigning high likelihood to the target reasoning step.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028C16-ED8C-4005-A4A8-CDDC36463545}"/>
              </a:ext>
            </a:extLst>
          </p:cNvPr>
          <p:cNvSpPr>
            <a:spLocks noGrp="1"/>
          </p:cNvSpPr>
          <p:nvPr/>
        </p:nvSpPr>
        <p:spPr>
          <a:xfrm>
            <a:off x="6762750" y="2400300"/>
            <a:ext cx="4191000" cy="1695450"/>
          </a:xfrm>
          <a:prstGeom prst="rect">
            <a:avLst/>
          </a:prstGeom>
          <a:solidFill>
            <a:srgbClr val="EEF4FF"/>
          </a:solidFill>
          <a:ln w="11430">
            <a:solidFill>
              <a:srgbClr val="B7C7E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ABDC22-DF04-43DB-ABB4-7B16FA37B47E}"/>
              </a:ext>
            </a:extLst>
          </p:cNvPr>
          <p:cNvSpPr>
            <a:spLocks noGrp="1"/>
          </p:cNvSpPr>
          <p:nvPr/>
        </p:nvSpPr>
        <p:spPr>
          <a:xfrm>
            <a:off x="6934200" y="2533650"/>
            <a:ext cx="3848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Retain side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12414A-5730-42E3-B978-4FE947749D20}"/>
              </a:ext>
            </a:extLst>
          </p:cNvPr>
          <p:cNvSpPr>
            <a:spLocks noGrp="1"/>
          </p:cNvSpPr>
          <p:nvPr/>
        </p:nvSpPr>
        <p:spPr>
          <a:xfrm>
            <a:off x="6934200" y="2914650"/>
            <a:ext cx="38481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Keep M* close to the original model M on retained examples so the edit stays local.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0DB25E-3A3A-4FC9-A5EE-F289E45BF454}"/>
              </a:ext>
            </a:extLst>
          </p:cNvPr>
          <p:cNvSpPr>
            <a:spLocks noGrp="1"/>
          </p:cNvSpPr>
          <p:nvPr/>
        </p:nvSpPr>
        <p:spPr>
          <a:xfrm>
            <a:off x="5562600" y="3238500"/>
            <a:ext cx="9525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9C4BE2-963C-4716-B352-AD90FDDB2F83}"/>
              </a:ext>
            </a:extLst>
          </p:cNvPr>
          <p:cNvSpPr>
            <a:spLocks noGrp="1"/>
          </p:cNvSpPr>
          <p:nvPr/>
        </p:nvSpPr>
        <p:spPr>
          <a:xfrm>
            <a:off x="6400800" y="3114675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endParaRPr sz="1575" b="1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4ABD93-D47B-4992-A446-897D4B6FE9D9}"/>
              </a:ext>
            </a:extLst>
          </p:cNvPr>
          <p:cNvSpPr>
            <a:spLocks noGrp="1"/>
          </p:cNvSpPr>
          <p:nvPr/>
        </p:nvSpPr>
        <p:spPr>
          <a:xfrm>
            <a:off x="1238251" y="4876800"/>
            <a:ext cx="930044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In implementation, the reproduction follows the paper's FF2/content-token setup.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4DF117-49C1-4418-BACB-8FEB1AE6CCAD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Tutek et al. (2025), Section 4.1 and Appendix E.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AFB17C9-6DA8-22A0-ABA8-43A6250DBA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63304"/>
            <a:ext cx="3481600" cy="36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0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15033A12-777D-4D4F-B5EC-4CE1817D29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3ED9E5-92D6-4CD3-BD75-462698E7026A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Intervention Validity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B3C141-CB85-4399-B7D6-09387D459963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A prediction flip only counts if the edit is both effective and specific.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B10B4D-90BB-4127-B6F4-E516BC7208EB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5D4049-403F-497E-8634-8A4ACBBB1EF0}"/>
              </a:ext>
            </a:extLst>
          </p:cNvPr>
          <p:cNvSpPr>
            <a:spLocks noGrp="1"/>
          </p:cNvSpPr>
          <p:nvPr/>
        </p:nvSpPr>
        <p:spPr>
          <a:xfrm>
            <a:off x="990600" y="1524000"/>
            <a:ext cx="10001250" cy="666750"/>
          </a:xfrm>
          <a:prstGeom prst="rect">
            <a:avLst/>
          </a:prstGeom>
          <a:solidFill>
            <a:srgbClr val="0E419C"/>
          </a:solidFill>
          <a:ln w="7620">
            <a:solidFill>
              <a:srgbClr val="B7C7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4B4464-D235-4F09-B56A-9DA461BE9090}"/>
              </a:ext>
            </a:extLst>
          </p:cNvPr>
          <p:cNvSpPr>
            <a:spLocks noGrp="1"/>
          </p:cNvSpPr>
          <p:nvPr/>
        </p:nvSpPr>
        <p:spPr>
          <a:xfrm>
            <a:off x="1066800" y="1619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Control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403EB1-479E-4814-9C01-8794F2F6CC3C}"/>
              </a:ext>
            </a:extLst>
          </p:cNvPr>
          <p:cNvSpPr>
            <a:spLocks noGrp="1"/>
          </p:cNvSpPr>
          <p:nvPr/>
        </p:nvSpPr>
        <p:spPr>
          <a:xfrm>
            <a:off x="3086100" y="1524000"/>
            <a:ext cx="9525" cy="6667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EAA846-2F8A-457E-9476-496345298109}"/>
              </a:ext>
            </a:extLst>
          </p:cNvPr>
          <p:cNvSpPr>
            <a:spLocks noGrp="1"/>
          </p:cNvSpPr>
          <p:nvPr/>
        </p:nvSpPr>
        <p:spPr>
          <a:xfrm>
            <a:off x="3162300" y="1619250"/>
            <a:ext cx="2990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What it measures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1288E1-031F-436E-B54E-FB5A57F88EDB}"/>
              </a:ext>
            </a:extLst>
          </p:cNvPr>
          <p:cNvSpPr>
            <a:spLocks noGrp="1"/>
          </p:cNvSpPr>
          <p:nvPr/>
        </p:nvSpPr>
        <p:spPr>
          <a:xfrm>
            <a:off x="6229350" y="1524000"/>
            <a:ext cx="9525" cy="6667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284693-7AA3-4DF9-85CA-484D7CABFFF4}"/>
              </a:ext>
            </a:extLst>
          </p:cNvPr>
          <p:cNvSpPr>
            <a:spLocks noGrp="1"/>
          </p:cNvSpPr>
          <p:nvPr/>
        </p:nvSpPr>
        <p:spPr>
          <a:xfrm>
            <a:off x="6305550" y="1619250"/>
            <a:ext cx="461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Why it matters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3888F0-A36E-42A3-A2BA-7DC42C6DA0EC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10001250" cy="769792"/>
          </a:xfrm>
          <a:prstGeom prst="rect">
            <a:avLst/>
          </a:prstGeom>
          <a:solidFill>
            <a:srgbClr val="F7FAFF"/>
          </a:solidFill>
          <a:ln w="7620">
            <a:solidFill>
              <a:srgbClr val="B7C7E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E107F3-4EF1-4474-9920-658F300C14B1}"/>
              </a:ext>
            </a:extLst>
          </p:cNvPr>
          <p:cNvSpPr>
            <a:spLocks noGrp="1"/>
          </p:cNvSpPr>
          <p:nvPr/>
        </p:nvSpPr>
        <p:spPr>
          <a:xfrm>
            <a:off x="1076325" y="2439697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Efficacy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2A1B6A-4599-4582-9FB5-AACA564083F5}"/>
              </a:ext>
            </a:extLst>
          </p:cNvPr>
          <p:cNvSpPr>
            <a:spLocks noGrp="1"/>
          </p:cNvSpPr>
          <p:nvPr/>
        </p:nvSpPr>
        <p:spPr>
          <a:xfrm>
            <a:off x="3086100" y="2190750"/>
            <a:ext cx="9525" cy="6667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318CCB-2B26-4651-AC9B-6443941AB68B}"/>
              </a:ext>
            </a:extLst>
          </p:cNvPr>
          <p:cNvSpPr>
            <a:spLocks noGrp="1"/>
          </p:cNvSpPr>
          <p:nvPr/>
        </p:nvSpPr>
        <p:spPr>
          <a:xfrm>
            <a:off x="3162300" y="2286000"/>
            <a:ext cx="2990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Probability reduction for the target </a:t>
            </a:r>
            <a:r>
              <a:rPr sz="20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CoT</a:t>
            </a: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step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AA7A7E9-A707-4657-A08F-87BEEEC14B56}"/>
              </a:ext>
            </a:extLst>
          </p:cNvPr>
          <p:cNvSpPr>
            <a:spLocks noGrp="1"/>
          </p:cNvSpPr>
          <p:nvPr/>
        </p:nvSpPr>
        <p:spPr>
          <a:xfrm>
            <a:off x="6229350" y="2190750"/>
            <a:ext cx="9525" cy="6667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51F26-7910-4403-B05F-1BB5A5BEC6F3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461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The intended information was actually weakened.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A4685A-3FCF-433C-AE8A-5CB2E27AA3B6}"/>
              </a:ext>
            </a:extLst>
          </p:cNvPr>
          <p:cNvSpPr>
            <a:spLocks noGrp="1"/>
          </p:cNvSpPr>
          <p:nvPr/>
        </p:nvSpPr>
        <p:spPr>
          <a:xfrm>
            <a:off x="990600" y="2960542"/>
            <a:ext cx="10001250" cy="754207"/>
          </a:xfrm>
          <a:prstGeom prst="rect">
            <a:avLst/>
          </a:prstGeom>
          <a:solidFill>
            <a:srgbClr val="FFFFFF"/>
          </a:solidFill>
          <a:ln w="7620">
            <a:solidFill>
              <a:srgbClr val="B7C7E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05A529-90C2-4594-AB77-73726187ECCE}"/>
              </a:ext>
            </a:extLst>
          </p:cNvPr>
          <p:cNvSpPr>
            <a:spLocks noGrp="1"/>
          </p:cNvSpPr>
          <p:nvPr/>
        </p:nvSpPr>
        <p:spPr>
          <a:xfrm>
            <a:off x="1066800" y="3183226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Specificity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779C22-D75F-4CB3-98E6-5FA33781A1DA}"/>
              </a:ext>
            </a:extLst>
          </p:cNvPr>
          <p:cNvSpPr>
            <a:spLocks noGrp="1"/>
          </p:cNvSpPr>
          <p:nvPr/>
        </p:nvSpPr>
        <p:spPr>
          <a:xfrm>
            <a:off x="3086100" y="2857500"/>
            <a:ext cx="9525" cy="6667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511958-36EB-49F7-BD20-A0EECE16B61F}"/>
              </a:ext>
            </a:extLst>
          </p:cNvPr>
          <p:cNvSpPr>
            <a:spLocks noGrp="1"/>
          </p:cNvSpPr>
          <p:nvPr/>
        </p:nvSpPr>
        <p:spPr>
          <a:xfrm>
            <a:off x="3162300" y="3063584"/>
            <a:ext cx="2990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Agreement with M on held-out in-domain items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9B96DF-35C9-4E2D-AE56-0A69D56C431E}"/>
              </a:ext>
            </a:extLst>
          </p:cNvPr>
          <p:cNvSpPr>
            <a:spLocks noGrp="1"/>
          </p:cNvSpPr>
          <p:nvPr/>
        </p:nvSpPr>
        <p:spPr>
          <a:xfrm>
            <a:off x="6229350" y="2857500"/>
            <a:ext cx="9525" cy="6667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F0F59E5-8497-4D56-B83B-95367077ECE3}"/>
              </a:ext>
            </a:extLst>
          </p:cNvPr>
          <p:cNvSpPr>
            <a:spLocks noGrp="1"/>
          </p:cNvSpPr>
          <p:nvPr/>
        </p:nvSpPr>
        <p:spPr>
          <a:xfrm>
            <a:off x="6305550" y="3084222"/>
            <a:ext cx="461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The edit did not broadly scramble the task.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3F68358-986E-4F4C-B03B-FAEC3DD69F0B}"/>
              </a:ext>
            </a:extLst>
          </p:cNvPr>
          <p:cNvSpPr>
            <a:spLocks noGrp="1"/>
          </p:cNvSpPr>
          <p:nvPr/>
        </p:nvSpPr>
        <p:spPr>
          <a:xfrm>
            <a:off x="990600" y="3705225"/>
            <a:ext cx="9982200" cy="800100"/>
          </a:xfrm>
          <a:prstGeom prst="rect">
            <a:avLst/>
          </a:prstGeom>
          <a:solidFill>
            <a:srgbClr val="F7FAFF"/>
          </a:solidFill>
          <a:ln w="7620">
            <a:solidFill>
              <a:srgbClr val="B7C7E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CF21483-6EEE-4CD7-A335-87A5435D5A32}"/>
              </a:ext>
            </a:extLst>
          </p:cNvPr>
          <p:cNvSpPr>
            <a:spLocks noGrp="1"/>
          </p:cNvSpPr>
          <p:nvPr/>
        </p:nvSpPr>
        <p:spPr>
          <a:xfrm>
            <a:off x="1066800" y="3808268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General capabilities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77E15BF-185C-49E1-9168-F0F53A222B4B}"/>
              </a:ext>
            </a:extLst>
          </p:cNvPr>
          <p:cNvSpPr>
            <a:spLocks noGrp="1"/>
          </p:cNvSpPr>
          <p:nvPr/>
        </p:nvSpPr>
        <p:spPr>
          <a:xfrm>
            <a:off x="3086100" y="3524250"/>
            <a:ext cx="9525" cy="6667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7771CD1-DD05-4754-91EC-91DF81E9282B}"/>
              </a:ext>
            </a:extLst>
          </p:cNvPr>
          <p:cNvSpPr>
            <a:spLocks noGrp="1"/>
          </p:cNvSpPr>
          <p:nvPr/>
        </p:nvSpPr>
        <p:spPr>
          <a:xfrm>
            <a:off x="3142384" y="3819525"/>
            <a:ext cx="2990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Post-unlearning ability on external benchmarks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3AED16-503C-4117-9AE1-00EF038E815F}"/>
              </a:ext>
            </a:extLst>
          </p:cNvPr>
          <p:cNvSpPr>
            <a:spLocks noGrp="1"/>
          </p:cNvSpPr>
          <p:nvPr/>
        </p:nvSpPr>
        <p:spPr>
          <a:xfrm>
            <a:off x="6229350" y="3524250"/>
            <a:ext cx="9525" cy="6667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47672E-7EB6-4C4E-8856-8F0D4674FE40}"/>
              </a:ext>
            </a:extLst>
          </p:cNvPr>
          <p:cNvSpPr>
            <a:spLocks noGrp="1"/>
          </p:cNvSpPr>
          <p:nvPr/>
        </p:nvSpPr>
        <p:spPr>
          <a:xfrm>
            <a:off x="6334991" y="3833812"/>
            <a:ext cx="461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The model remains useful outside the target instance.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7FD38C-A081-49CC-B9DB-AD9F8A7A1F27}"/>
              </a:ext>
            </a:extLst>
          </p:cNvPr>
          <p:cNvSpPr>
            <a:spLocks noGrp="1"/>
          </p:cNvSpPr>
          <p:nvPr/>
        </p:nvSpPr>
        <p:spPr>
          <a:xfrm>
            <a:off x="1562100" y="4772025"/>
            <a:ext cx="8858250" cy="1190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These controls make FUR a conservative measurement: it can identify faithful steps, but may miss some faithful chains.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22BD98-E15B-4228-AEB6-35EC064BC07A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Tutek et al. (2025), Section 4.2.</a:t>
            </a:r>
          </a:p>
        </p:txBody>
      </p:sp>
    </p:spTree>
    <p:extLst>
      <p:ext uri="{BB962C8B-B14F-4D97-AF65-F5344CB8AC3E}">
        <p14:creationId xmlns:p14="http://schemas.microsoft.com/office/powerpoint/2010/main" val="1169803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C0504EA-A955-40AE-A350-74C387A845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BC6DEA-DECE-4C3B-A051-61A4F8D3DFBA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Faithfulness Metrics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5E2396-9FC2-4137-AEDF-D973865F97A0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FF-HARD answers whether a chain is faithful; FF-SOFT ranks salient steps.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084EFC-309C-4723-8156-F5A5133D999A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FD2A98-5EEF-4E01-9B1A-E0755967E5E3}"/>
              </a:ext>
            </a:extLst>
          </p:cNvPr>
          <p:cNvSpPr>
            <a:spLocks noGrp="1"/>
          </p:cNvSpPr>
          <p:nvPr/>
        </p:nvSpPr>
        <p:spPr>
          <a:xfrm>
            <a:off x="857250" y="1466850"/>
            <a:ext cx="4857750" cy="3295650"/>
          </a:xfrm>
          <a:prstGeom prst="rect">
            <a:avLst/>
          </a:prstGeom>
          <a:solidFill>
            <a:srgbClr val="FFFFFF"/>
          </a:solidFill>
          <a:ln w="11430">
            <a:solidFill>
              <a:srgbClr val="B7C7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DA424E-1F8F-430E-9FC6-4B292D7938D1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451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FF-HARD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302573-5F17-4DDA-8C5A-5197CDDF34CC}"/>
              </a:ext>
            </a:extLst>
          </p:cNvPr>
          <p:cNvSpPr>
            <a:spLocks noGrp="1"/>
          </p:cNvSpPr>
          <p:nvPr/>
        </p:nvSpPr>
        <p:spPr>
          <a:xfrm>
            <a:off x="1028700" y="1981200"/>
            <a:ext cx="4514850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 lang="en-US" sz="200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endParaRPr lang="en-US" sz="200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endParaRPr sz="200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l">
              <a:defRPr sz="14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Use case: Is the generated </a:t>
            </a:r>
            <a:r>
              <a:rPr sz="20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CoT</a:t>
            </a: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faithful at all?</a:t>
            </a:r>
          </a:p>
          <a:p>
            <a:endParaRPr sz="200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l">
              <a:defRPr sz="14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Interpretation: one successful step-level flip is enough to show that the chain exposed a real internal cause.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692A3E-7611-4B03-B591-0D9B29C87805}"/>
              </a:ext>
            </a:extLst>
          </p:cNvPr>
          <p:cNvSpPr>
            <a:spLocks noGrp="1"/>
          </p:cNvSpPr>
          <p:nvPr/>
        </p:nvSpPr>
        <p:spPr>
          <a:xfrm>
            <a:off x="6477000" y="1466850"/>
            <a:ext cx="4857750" cy="3295650"/>
          </a:xfrm>
          <a:prstGeom prst="rect">
            <a:avLst/>
          </a:prstGeom>
          <a:solidFill>
            <a:srgbClr val="EEF4FF"/>
          </a:solidFill>
          <a:ln w="11430">
            <a:solidFill>
              <a:srgbClr val="B7C7E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3D9A34-6E90-4016-8D97-17D05B495624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51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FF-SOFT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A3EDE0-F749-4A38-A942-B6DC3DD1E886}"/>
              </a:ext>
            </a:extLst>
          </p:cNvPr>
          <p:cNvSpPr>
            <a:spLocks noGrp="1"/>
          </p:cNvSpPr>
          <p:nvPr/>
        </p:nvSpPr>
        <p:spPr>
          <a:xfrm>
            <a:off x="6648450" y="1981200"/>
            <a:ext cx="4514850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 lang="en-US" sz="200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endParaRPr sz="200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l">
              <a:defRPr sz="14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endParaRPr lang="en-US" sz="200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l">
              <a:defRPr sz="14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Use case: Which step mattered most?</a:t>
            </a:r>
          </a:p>
          <a:p>
            <a:endParaRPr sz="200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l">
              <a:defRPr sz="14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Interpretation: larger positive shifts mean that unlearning the step removed more probability mass from the initial answer.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1DE5AD-E626-40CB-9772-A09090E0B630}"/>
              </a:ext>
            </a:extLst>
          </p:cNvPr>
          <p:cNvSpPr>
            <a:spLocks noGrp="1"/>
          </p:cNvSpPr>
          <p:nvPr/>
        </p:nvSpPr>
        <p:spPr>
          <a:xfrm>
            <a:off x="1714500" y="50673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595959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595959"/>
                </a:solidFill>
                <a:latin typeface="Tahoma"/>
                <a:ea typeface="Tahoma"/>
                <a:cs typeface="Tahoma"/>
              </a:rPr>
              <a:t>Both metrics are computed after direct-answer prompting, avoiding the confound of a changed </a:t>
            </a:r>
            <a:r>
              <a:rPr sz="2400" b="0" dirty="0" err="1">
                <a:solidFill>
                  <a:srgbClr val="595959"/>
                </a:solidFill>
                <a:latin typeface="Tahoma"/>
                <a:ea typeface="Tahoma"/>
                <a:cs typeface="Tahoma"/>
              </a:rPr>
              <a:t>CoT</a:t>
            </a:r>
            <a:r>
              <a:rPr sz="2400" b="0" dirty="0">
                <a:solidFill>
                  <a:srgbClr val="595959"/>
                </a:solidFill>
                <a:latin typeface="Tahoma"/>
                <a:ea typeface="Tahoma"/>
                <a:cs typeface="Tahoma"/>
              </a:rPr>
              <a:t> context.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6229FB-0589-42DB-A241-C03645FC45AB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Tutek et al. (2025), Section 4.3.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64C435B-2584-5622-F290-BBFC1F9A13D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45" y="2138653"/>
            <a:ext cx="4352730" cy="40303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38CC9C9-C41E-AE30-6618-49378AD0C0A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234" y="2110470"/>
            <a:ext cx="4659200" cy="47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27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0209DA1D-41AF-4211-8519-DD68CD0900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B800C0-D944-481E-96B3-7BB33CC7651D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Why No-CoT Evaluation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981B74-0904-4B59-9D6D-CFE6FFE90D2D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FUR evaluates answer change without feeding the edited model a new rationale.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F9055B-7292-46BD-AAC0-905DD0570F24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ABAC06-7B27-436A-9C5F-7699745BA469}"/>
              </a:ext>
            </a:extLst>
          </p:cNvPr>
          <p:cNvSpPr>
            <a:spLocks noGrp="1"/>
          </p:cNvSpPr>
          <p:nvPr/>
        </p:nvSpPr>
        <p:spPr>
          <a:xfrm>
            <a:off x="895350" y="1676400"/>
            <a:ext cx="2762250" cy="162964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6599FD-8589-4117-BEB2-217164D5C1A1}"/>
              </a:ext>
            </a:extLst>
          </p:cNvPr>
          <p:cNvSpPr>
            <a:spLocks noGrp="1"/>
          </p:cNvSpPr>
          <p:nvPr/>
        </p:nvSpPr>
        <p:spPr>
          <a:xfrm>
            <a:off x="1028700" y="1790700"/>
            <a:ext cx="2495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Before unlearning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3A969B-F51F-4733-982F-DF0A28026942}"/>
              </a:ext>
            </a:extLst>
          </p:cNvPr>
          <p:cNvSpPr>
            <a:spLocks noGrp="1"/>
          </p:cNvSpPr>
          <p:nvPr/>
        </p:nvSpPr>
        <p:spPr>
          <a:xfrm>
            <a:off x="1028700" y="2200275"/>
            <a:ext cx="249555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 answers directly:</a:t>
            </a:r>
          </a:p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answer = C</a:t>
            </a:r>
          </a:p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p(C) is high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51D72A-6CA8-4A8E-914E-71D0B832B752}"/>
              </a:ext>
            </a:extLst>
          </p:cNvPr>
          <p:cNvSpPr>
            <a:spLocks noGrp="1"/>
          </p:cNvSpPr>
          <p:nvPr/>
        </p:nvSpPr>
        <p:spPr>
          <a:xfrm>
            <a:off x="3848100" y="2295525"/>
            <a:ext cx="6096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EFEAA3-085B-44AC-8BF8-F995EE0F3633}"/>
              </a:ext>
            </a:extLst>
          </p:cNvPr>
          <p:cNvSpPr>
            <a:spLocks noGrp="1"/>
          </p:cNvSpPr>
          <p:nvPr/>
        </p:nvSpPr>
        <p:spPr>
          <a:xfrm>
            <a:off x="4438650" y="2181225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F2E734-64DC-4105-A2F8-E45F6EF2BBCB}"/>
              </a:ext>
            </a:extLst>
          </p:cNvPr>
          <p:cNvSpPr>
            <a:spLocks noGrp="1"/>
          </p:cNvSpPr>
          <p:nvPr/>
        </p:nvSpPr>
        <p:spPr>
          <a:xfrm>
            <a:off x="4819650" y="1676400"/>
            <a:ext cx="2571750" cy="162964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900235-6643-4832-8E7F-6A5A468EE01E}"/>
              </a:ext>
            </a:extLst>
          </p:cNvPr>
          <p:cNvSpPr>
            <a:spLocks noGrp="1"/>
          </p:cNvSpPr>
          <p:nvPr/>
        </p:nvSpPr>
        <p:spPr>
          <a:xfrm>
            <a:off x="4953000" y="1790700"/>
            <a:ext cx="2305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Parameter edit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753C90-1076-4CE1-95FB-129A65538EF3}"/>
              </a:ext>
            </a:extLst>
          </p:cNvPr>
          <p:cNvSpPr>
            <a:spLocks noGrp="1"/>
          </p:cNvSpPr>
          <p:nvPr/>
        </p:nvSpPr>
        <p:spPr>
          <a:xfrm>
            <a:off x="4953000" y="2200275"/>
            <a:ext cx="230505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Unlearn one target</a:t>
            </a:r>
          </a:p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reasoning step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57255B-6D5C-4D63-AFA8-082FD115076E}"/>
              </a:ext>
            </a:extLst>
          </p:cNvPr>
          <p:cNvSpPr>
            <a:spLocks noGrp="1"/>
          </p:cNvSpPr>
          <p:nvPr/>
        </p:nvSpPr>
        <p:spPr>
          <a:xfrm>
            <a:off x="7600950" y="2295525"/>
            <a:ext cx="62865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985A75-C5C6-4FCA-896E-74CA7FAE2695}"/>
              </a:ext>
            </a:extLst>
          </p:cNvPr>
          <p:cNvSpPr>
            <a:spLocks noGrp="1"/>
          </p:cNvSpPr>
          <p:nvPr/>
        </p:nvSpPr>
        <p:spPr>
          <a:xfrm>
            <a:off x="8210550" y="2181225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4928C3-9F1F-457F-9807-FC3C58A143D0}"/>
              </a:ext>
            </a:extLst>
          </p:cNvPr>
          <p:cNvSpPr>
            <a:spLocks noGrp="1"/>
          </p:cNvSpPr>
          <p:nvPr/>
        </p:nvSpPr>
        <p:spPr>
          <a:xfrm>
            <a:off x="8591550" y="1676399"/>
            <a:ext cx="2762250" cy="1629639"/>
          </a:xfrm>
          <a:prstGeom prst="rect">
            <a:avLst/>
          </a:prstGeom>
          <a:solidFill>
            <a:srgbClr val="EEF4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807692-B812-45A6-82A6-19819EAA4699}"/>
              </a:ext>
            </a:extLst>
          </p:cNvPr>
          <p:cNvSpPr>
            <a:spLocks noGrp="1"/>
          </p:cNvSpPr>
          <p:nvPr/>
        </p:nvSpPr>
        <p:spPr>
          <a:xfrm>
            <a:off x="8724900" y="1790700"/>
            <a:ext cx="2495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After unlearning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B47A32-A194-44F0-98CD-B61A0C57A928}"/>
              </a:ext>
            </a:extLst>
          </p:cNvPr>
          <p:cNvSpPr>
            <a:spLocks noGrp="1"/>
          </p:cNvSpPr>
          <p:nvPr/>
        </p:nvSpPr>
        <p:spPr>
          <a:xfrm>
            <a:off x="8724900" y="2200275"/>
            <a:ext cx="249555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M* answers directly:</a:t>
            </a:r>
          </a:p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answer may shift</a:t>
            </a:r>
          </a:p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p(C) may fall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9F3A48-AA35-4A7C-BFB1-CB7B74E2ECDE}"/>
              </a:ext>
            </a:extLst>
          </p:cNvPr>
          <p:cNvSpPr>
            <a:spLocks noGrp="1"/>
          </p:cNvSpPr>
          <p:nvPr/>
        </p:nvSpPr>
        <p:spPr>
          <a:xfrm>
            <a:off x="1543050" y="3810000"/>
            <a:ext cx="9048750" cy="1465985"/>
          </a:xfrm>
          <a:prstGeom prst="rect">
            <a:avLst/>
          </a:prstGeom>
          <a:solidFill>
            <a:srgbClr val="F9FBFF"/>
          </a:solidFill>
          <a:ln w="11430">
            <a:solidFill>
              <a:srgbClr val="D8E2F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C18A55-D1C9-41AD-A88F-1588AE4757BD}"/>
              </a:ext>
            </a:extLst>
          </p:cNvPr>
          <p:cNvSpPr>
            <a:spLocks noGrp="1"/>
          </p:cNvSpPr>
          <p:nvPr/>
        </p:nvSpPr>
        <p:spPr>
          <a:xfrm>
            <a:off x="1714500" y="3981450"/>
            <a:ext cx="87058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If the answer changes under a precise edit, the observed </a:t>
            </a:r>
            <a:r>
              <a:rPr sz="24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CoT</a:t>
            </a: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step did more than sound plausible: it exposed information tied to the model's prediction.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14948D-36C2-42D4-B106-C9567F834310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Tutek et al. (2025), Section 3.</a:t>
            </a:r>
          </a:p>
        </p:txBody>
      </p:sp>
    </p:spTree>
    <p:extLst>
      <p:ext uri="{BB962C8B-B14F-4D97-AF65-F5344CB8AC3E}">
        <p14:creationId xmlns:p14="http://schemas.microsoft.com/office/powerpoint/2010/main" val="888299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8D2E132-A264-4FEB-8C55-F602CAFC34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A58D5A-83AC-40CA-9988-14BF8DD9D350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Original Experimental Setup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A215BC-F20D-4EE4-9557-A5511B8FC601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The paper evaluates FUR across multiple LMs and multi-hop MCQA datasets.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1E039D-644E-4C8F-A55A-4D39E27974AF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0E6E65-1025-49C1-9313-C85D139E8C3D}"/>
              </a:ext>
            </a:extLst>
          </p:cNvPr>
          <p:cNvSpPr>
            <a:spLocks noGrp="1"/>
          </p:cNvSpPr>
          <p:nvPr/>
        </p:nvSpPr>
        <p:spPr>
          <a:xfrm>
            <a:off x="819150" y="1466850"/>
            <a:ext cx="9810750" cy="590550"/>
          </a:xfrm>
          <a:prstGeom prst="rect">
            <a:avLst/>
          </a:prstGeom>
          <a:solidFill>
            <a:srgbClr val="0E419C"/>
          </a:solidFill>
          <a:ln w="7620">
            <a:solidFill>
              <a:srgbClr val="B7C7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71EC03-1A32-48AD-9DB2-1852D68E05B2}"/>
              </a:ext>
            </a:extLst>
          </p:cNvPr>
          <p:cNvSpPr>
            <a:spLocks noGrp="1"/>
          </p:cNvSpPr>
          <p:nvPr/>
        </p:nvSpPr>
        <p:spPr>
          <a:xfrm>
            <a:off x="895350" y="1562100"/>
            <a:ext cx="2419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Component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CEAB70-7A9C-4764-8C7E-9BB1A54ACC39}"/>
              </a:ext>
            </a:extLst>
          </p:cNvPr>
          <p:cNvSpPr>
            <a:spLocks noGrp="1"/>
          </p:cNvSpPr>
          <p:nvPr/>
        </p:nvSpPr>
        <p:spPr>
          <a:xfrm>
            <a:off x="3390900" y="1466850"/>
            <a:ext cx="9525" cy="5905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939B37-4C83-4D0E-8544-4F11C31FB8EA}"/>
              </a:ext>
            </a:extLst>
          </p:cNvPr>
          <p:cNvSpPr>
            <a:spLocks noGrp="1"/>
          </p:cNvSpPr>
          <p:nvPr/>
        </p:nvSpPr>
        <p:spPr>
          <a:xfrm>
            <a:off x="3467100" y="1562100"/>
            <a:ext cx="708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Original paper setup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AFFB84-6B1E-4F98-9B2E-5D62C318EB5A}"/>
              </a:ext>
            </a:extLst>
          </p:cNvPr>
          <p:cNvSpPr>
            <a:spLocks noGrp="1"/>
          </p:cNvSpPr>
          <p:nvPr/>
        </p:nvSpPr>
        <p:spPr>
          <a:xfrm>
            <a:off x="819150" y="2060972"/>
            <a:ext cx="9810750" cy="734615"/>
          </a:xfrm>
          <a:prstGeom prst="rect">
            <a:avLst/>
          </a:prstGeom>
          <a:solidFill>
            <a:srgbClr val="F7FAFF"/>
          </a:solidFill>
          <a:ln w="7620">
            <a:solidFill>
              <a:srgbClr val="B7C7E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E0D89B-95EC-4EC9-8E9A-6F43854EB706}"/>
              </a:ext>
            </a:extLst>
          </p:cNvPr>
          <p:cNvSpPr>
            <a:spLocks noGrp="1"/>
          </p:cNvSpPr>
          <p:nvPr/>
        </p:nvSpPr>
        <p:spPr>
          <a:xfrm>
            <a:off x="895350" y="2264588"/>
            <a:ext cx="2419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Models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F834BA-DC20-4673-90ED-FA8836CAF628}"/>
              </a:ext>
            </a:extLst>
          </p:cNvPr>
          <p:cNvSpPr>
            <a:spLocks noGrp="1"/>
          </p:cNvSpPr>
          <p:nvPr/>
        </p:nvSpPr>
        <p:spPr>
          <a:xfrm>
            <a:off x="3390900" y="2057400"/>
            <a:ext cx="9525" cy="5905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22C802-A228-4392-8312-145E4B3DE025}"/>
              </a:ext>
            </a:extLst>
          </p:cNvPr>
          <p:cNvSpPr>
            <a:spLocks noGrp="1"/>
          </p:cNvSpPr>
          <p:nvPr/>
        </p:nvSpPr>
        <p:spPr>
          <a:xfrm>
            <a:off x="3476625" y="2124076"/>
            <a:ext cx="708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LLaMA-3-8B-Instruct, Llama-3.2-3B-Instruct, Mistral-7B-Instruct-v0.2, Phi-3-mini-4k-Instruct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6CBC63-832A-49C3-8600-3AF516ABE72C}"/>
              </a:ext>
            </a:extLst>
          </p:cNvPr>
          <p:cNvSpPr>
            <a:spLocks noGrp="1"/>
          </p:cNvSpPr>
          <p:nvPr/>
        </p:nvSpPr>
        <p:spPr>
          <a:xfrm>
            <a:off x="819150" y="2790826"/>
            <a:ext cx="9810750" cy="615552"/>
          </a:xfrm>
          <a:prstGeom prst="rect">
            <a:avLst/>
          </a:prstGeom>
          <a:solidFill>
            <a:srgbClr val="FFFFFF"/>
          </a:solidFill>
          <a:ln w="7620">
            <a:solidFill>
              <a:srgbClr val="B7C7E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B3C9CF-8141-4108-B9B5-735636C0F14C}"/>
              </a:ext>
            </a:extLst>
          </p:cNvPr>
          <p:cNvSpPr>
            <a:spLocks noGrp="1"/>
          </p:cNvSpPr>
          <p:nvPr/>
        </p:nvSpPr>
        <p:spPr>
          <a:xfrm>
            <a:off x="895350" y="2928937"/>
            <a:ext cx="2419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Datasets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483A6B-E171-4FCB-BA87-71C7F3AA1899}"/>
              </a:ext>
            </a:extLst>
          </p:cNvPr>
          <p:cNvSpPr>
            <a:spLocks noGrp="1"/>
          </p:cNvSpPr>
          <p:nvPr/>
        </p:nvSpPr>
        <p:spPr>
          <a:xfrm>
            <a:off x="3390900" y="2647950"/>
            <a:ext cx="9525" cy="5905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ACD268-58BB-49E8-8FBF-7857E59EAEA1}"/>
              </a:ext>
            </a:extLst>
          </p:cNvPr>
          <p:cNvSpPr>
            <a:spLocks noGrp="1"/>
          </p:cNvSpPr>
          <p:nvPr/>
        </p:nvSpPr>
        <p:spPr>
          <a:xfrm>
            <a:off x="3467100" y="2787254"/>
            <a:ext cx="708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OpenBookQA</a:t>
            </a: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, ARC-Challenge, </a:t>
            </a:r>
            <a:r>
              <a:rPr sz="20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StrategyQA</a:t>
            </a: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, </a:t>
            </a:r>
            <a:r>
              <a:rPr sz="20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TruthfulQA</a:t>
            </a: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, and BigBench-Hard Sports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671AA0-05C9-4CD9-A605-16660F2B82FD}"/>
              </a:ext>
            </a:extLst>
          </p:cNvPr>
          <p:cNvSpPr>
            <a:spLocks noGrp="1"/>
          </p:cNvSpPr>
          <p:nvPr/>
        </p:nvSpPr>
        <p:spPr>
          <a:xfrm>
            <a:off x="819150" y="3409950"/>
            <a:ext cx="9810750" cy="714374"/>
          </a:xfrm>
          <a:prstGeom prst="rect">
            <a:avLst/>
          </a:prstGeom>
          <a:solidFill>
            <a:srgbClr val="F7FAFF"/>
          </a:solidFill>
          <a:ln w="7620">
            <a:solidFill>
              <a:srgbClr val="B7C7E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E9A189-C20E-42A6-8641-9D6A734A015D}"/>
              </a:ext>
            </a:extLst>
          </p:cNvPr>
          <p:cNvSpPr>
            <a:spLocks noGrp="1"/>
          </p:cNvSpPr>
          <p:nvPr/>
        </p:nvSpPr>
        <p:spPr>
          <a:xfrm>
            <a:off x="895350" y="3629026"/>
            <a:ext cx="2419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Instance budget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4811DC-F378-4EBA-AC5B-2271224499DC}"/>
              </a:ext>
            </a:extLst>
          </p:cNvPr>
          <p:cNvSpPr>
            <a:spLocks noGrp="1"/>
          </p:cNvSpPr>
          <p:nvPr/>
        </p:nvSpPr>
        <p:spPr>
          <a:xfrm>
            <a:off x="3390900" y="3238500"/>
            <a:ext cx="9525" cy="5905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AA7884-C386-4901-BE71-2F3B8188D035}"/>
              </a:ext>
            </a:extLst>
          </p:cNvPr>
          <p:cNvSpPr>
            <a:spLocks noGrp="1"/>
          </p:cNvSpPr>
          <p:nvPr/>
        </p:nvSpPr>
        <p:spPr>
          <a:xfrm>
            <a:off x="3467100" y="3467101"/>
            <a:ext cx="708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250 examples per dataset where available, with stepwise unlearning over </a:t>
            </a:r>
            <a:r>
              <a:rPr sz="20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CoT</a:t>
            </a: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segments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DF6C37-5B9F-41E1-A51B-2913B88935FC}"/>
              </a:ext>
            </a:extLst>
          </p:cNvPr>
          <p:cNvSpPr>
            <a:spLocks noGrp="1"/>
          </p:cNvSpPr>
          <p:nvPr/>
        </p:nvSpPr>
        <p:spPr>
          <a:xfrm>
            <a:off x="819150" y="4124325"/>
            <a:ext cx="9810750" cy="833438"/>
          </a:xfrm>
          <a:prstGeom prst="rect">
            <a:avLst/>
          </a:prstGeom>
          <a:solidFill>
            <a:srgbClr val="FFFFFF"/>
          </a:solidFill>
          <a:ln w="7620">
            <a:solidFill>
              <a:srgbClr val="B7C7E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9C58DC-998B-41A9-A062-FB0704FB366E}"/>
              </a:ext>
            </a:extLst>
          </p:cNvPr>
          <p:cNvSpPr>
            <a:spLocks noGrp="1"/>
          </p:cNvSpPr>
          <p:nvPr/>
        </p:nvSpPr>
        <p:spPr>
          <a:xfrm>
            <a:off x="933450" y="4379119"/>
            <a:ext cx="2419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Task format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699B7AA-2FAB-4998-9564-D7E733E913CC}"/>
              </a:ext>
            </a:extLst>
          </p:cNvPr>
          <p:cNvSpPr>
            <a:spLocks noGrp="1"/>
          </p:cNvSpPr>
          <p:nvPr/>
        </p:nvSpPr>
        <p:spPr>
          <a:xfrm>
            <a:off x="3390900" y="3829050"/>
            <a:ext cx="9525" cy="590550"/>
          </a:xfrm>
          <a:prstGeom prst="rect">
            <a:avLst/>
          </a:prstGeom>
          <a:solidFill>
            <a:srgbClr val="B7C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AA15979-9724-4808-8C6A-217964DF52EA}"/>
              </a:ext>
            </a:extLst>
          </p:cNvPr>
          <p:cNvSpPr>
            <a:spLocks noGrp="1"/>
          </p:cNvSpPr>
          <p:nvPr/>
        </p:nvSpPr>
        <p:spPr>
          <a:xfrm>
            <a:off x="3467100" y="4243243"/>
            <a:ext cx="708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Multiple-choice QA, using letter probabilities over answer options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3173EE-76D2-47FF-9AB0-879B7F1E8943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Tutek et al. (2025), Section 5.</a:t>
            </a:r>
          </a:p>
        </p:txBody>
      </p:sp>
    </p:spTree>
    <p:extLst>
      <p:ext uri="{BB962C8B-B14F-4D97-AF65-F5344CB8AC3E}">
        <p14:creationId xmlns:p14="http://schemas.microsoft.com/office/powerpoint/2010/main" val="1275858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D0EA770E-D653-4C19-ACEB-3224DBF28C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3EB21A-5FF8-4E61-A2CB-C0C682EF4051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Our Reproduction Scope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70CB4D-B16D-4F9D-AFE3-C641E3668DD9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We reproduce the core FUR workflow on a scaled 2 x 2 model-dataset subset.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5F596D-E8D5-4C84-95F5-3739330C4E93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BE4A86-4502-44F8-A62C-D40FE101C6AE}"/>
              </a:ext>
            </a:extLst>
          </p:cNvPr>
          <p:cNvSpPr>
            <a:spLocks noGrp="1"/>
          </p:cNvSpPr>
          <p:nvPr/>
        </p:nvSpPr>
        <p:spPr>
          <a:xfrm>
            <a:off x="1173019" y="1362075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Models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DA9BA4-6425-4DD7-97F4-D9B98D5015B4}"/>
              </a:ext>
            </a:extLst>
          </p:cNvPr>
          <p:cNvSpPr>
            <a:spLocks noGrp="1"/>
          </p:cNvSpPr>
          <p:nvPr/>
        </p:nvSpPr>
        <p:spPr>
          <a:xfrm>
            <a:off x="6686550" y="13525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Datasets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F76C65-6836-4223-8792-EE77CA2AB8BB}"/>
              </a:ext>
            </a:extLst>
          </p:cNvPr>
          <p:cNvSpPr>
            <a:spLocks noGrp="1"/>
          </p:cNvSpPr>
          <p:nvPr/>
        </p:nvSpPr>
        <p:spPr>
          <a:xfrm>
            <a:off x="819150" y="1981200"/>
            <a:ext cx="2667000" cy="11430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F9CF9B-BADE-4D2E-A28C-E67D3947CDD4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Phi-3-mini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A78900-0B79-470D-9942-A6753AC6B37F}"/>
              </a:ext>
            </a:extLst>
          </p:cNvPr>
          <p:cNvSpPr>
            <a:spLocks noGrp="1"/>
          </p:cNvSpPr>
          <p:nvPr/>
        </p:nvSpPr>
        <p:spPr>
          <a:xfrm>
            <a:off x="952500" y="2505075"/>
            <a:ext cx="24003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microsoft</a:t>
            </a: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/Phi-3-mini-4k-instruct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3E1C00-9FCA-49FE-8D46-6C588A4DC1AE}"/>
              </a:ext>
            </a:extLst>
          </p:cNvPr>
          <p:cNvSpPr>
            <a:spLocks noGrp="1"/>
          </p:cNvSpPr>
          <p:nvPr/>
        </p:nvSpPr>
        <p:spPr>
          <a:xfrm>
            <a:off x="819150" y="3314700"/>
            <a:ext cx="2667000" cy="12192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EC5D1D-8FCC-4D7C-83FF-1846F3407014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LLaMA-3.2-3B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55960F-5835-45EF-B09E-CBD8B792B559}"/>
              </a:ext>
            </a:extLst>
          </p:cNvPr>
          <p:cNvSpPr>
            <a:spLocks noGrp="1"/>
          </p:cNvSpPr>
          <p:nvPr/>
        </p:nvSpPr>
        <p:spPr>
          <a:xfrm>
            <a:off x="952500" y="3838575"/>
            <a:ext cx="24003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meta-llama/Llama-3.2-3B-Instruct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589229-149D-429A-8065-4DBE563F848B}"/>
              </a:ext>
            </a:extLst>
          </p:cNvPr>
          <p:cNvSpPr>
            <a:spLocks noGrp="1"/>
          </p:cNvSpPr>
          <p:nvPr/>
        </p:nvSpPr>
        <p:spPr>
          <a:xfrm>
            <a:off x="6438900" y="1981200"/>
            <a:ext cx="2838450" cy="9525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E3C6FA-83DE-42DC-A3A2-0F486F3B9CB8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OpenBookQA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DD5393-0914-4388-B2F7-E5C1053F95F6}"/>
              </a:ext>
            </a:extLst>
          </p:cNvPr>
          <p:cNvSpPr>
            <a:spLocks noGrp="1"/>
          </p:cNvSpPr>
          <p:nvPr/>
        </p:nvSpPr>
        <p:spPr>
          <a:xfrm>
            <a:off x="6482484" y="2530907"/>
            <a:ext cx="2751282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Science-oriented MCQA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D688BE-8FFC-4E22-B1C4-3C3AA061FF89}"/>
              </a:ext>
            </a:extLst>
          </p:cNvPr>
          <p:cNvSpPr>
            <a:spLocks noGrp="1"/>
          </p:cNvSpPr>
          <p:nvPr/>
        </p:nvSpPr>
        <p:spPr>
          <a:xfrm>
            <a:off x="6438900" y="3314700"/>
            <a:ext cx="2838450" cy="11811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8492AF-D2B1-4CCB-A945-12AC071AF896}"/>
              </a:ext>
            </a:extLst>
          </p:cNvPr>
          <p:cNvSpPr>
            <a:spLocks noGrp="1"/>
          </p:cNvSpPr>
          <p:nvPr/>
        </p:nvSpPr>
        <p:spPr>
          <a:xfrm>
            <a:off x="6686550" y="3419475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 err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StrategyQA</a:t>
            </a:r>
            <a:endParaRPr sz="2000" b="1" dirty="0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DD854A-7A09-43DA-80AA-5945AC429643}"/>
              </a:ext>
            </a:extLst>
          </p:cNvPr>
          <p:cNvSpPr>
            <a:spLocks noGrp="1"/>
          </p:cNvSpPr>
          <p:nvPr/>
        </p:nvSpPr>
        <p:spPr>
          <a:xfrm>
            <a:off x="6419850" y="3829050"/>
            <a:ext cx="2928216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Implicit multi-hop reasoning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5C3B79-99F5-4701-A470-A55506C55186}"/>
              </a:ext>
            </a:extLst>
          </p:cNvPr>
          <p:cNvSpPr>
            <a:spLocks noGrp="1"/>
          </p:cNvSpPr>
          <p:nvPr/>
        </p:nvSpPr>
        <p:spPr>
          <a:xfrm>
            <a:off x="3829050" y="2495550"/>
            <a:ext cx="20955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EFC5DF-6463-43B8-8FF6-EB3BDDE7790D}"/>
              </a:ext>
            </a:extLst>
          </p:cNvPr>
          <p:cNvSpPr>
            <a:spLocks noGrp="1"/>
          </p:cNvSpPr>
          <p:nvPr/>
        </p:nvSpPr>
        <p:spPr>
          <a:xfrm>
            <a:off x="5905500" y="2381250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61CF5AC-A657-4E16-9B9D-AF902EED3E8E}"/>
              </a:ext>
            </a:extLst>
          </p:cNvPr>
          <p:cNvSpPr>
            <a:spLocks noGrp="1"/>
          </p:cNvSpPr>
          <p:nvPr/>
        </p:nvSpPr>
        <p:spPr>
          <a:xfrm>
            <a:off x="3829050" y="3829050"/>
            <a:ext cx="209550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03BB5D6-C88F-4D39-8989-C633FE5789A8}"/>
              </a:ext>
            </a:extLst>
          </p:cNvPr>
          <p:cNvSpPr>
            <a:spLocks noGrp="1"/>
          </p:cNvSpPr>
          <p:nvPr/>
        </p:nvSpPr>
        <p:spPr>
          <a:xfrm>
            <a:off x="5905500" y="3714750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4B42F1-1271-4624-AADD-1DE9F07B8FCF}"/>
              </a:ext>
            </a:extLst>
          </p:cNvPr>
          <p:cNvSpPr>
            <a:spLocks noGrp="1"/>
          </p:cNvSpPr>
          <p:nvPr/>
        </p:nvSpPr>
        <p:spPr>
          <a:xfrm>
            <a:off x="3078019" y="5210175"/>
            <a:ext cx="4095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B050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0B050"/>
                </a:solidFill>
                <a:latin typeface="Tahoma"/>
                <a:ea typeface="Tahoma"/>
                <a:cs typeface="Tahoma"/>
              </a:rPr>
              <a:t>50 instances per dataset to fit compute budget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4BBF69-4766-481A-B002-C3426718A09A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Group 1 proposal.</a:t>
            </a:r>
          </a:p>
        </p:txBody>
      </p:sp>
    </p:spTree>
    <p:extLst>
      <p:ext uri="{BB962C8B-B14F-4D97-AF65-F5344CB8AC3E}">
        <p14:creationId xmlns:p14="http://schemas.microsoft.com/office/powerpoint/2010/main" val="2103362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537E152-C780-4811-AB82-8097B4397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B1CFE3-58C5-4A9F-A721-557B67CE6748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Results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14F828-77AC-4D07-9F30-22C730C9232E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Reserved for the intervention-validity summary once we decide how much author data to show.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C0CE91-9403-47E1-9115-35E53068DFB9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F00455-0DE9-4737-899A-E35712281CF8}"/>
              </a:ext>
            </a:extLst>
          </p:cNvPr>
          <p:cNvSpPr>
            <a:spLocks noGrp="1"/>
          </p:cNvSpPr>
          <p:nvPr/>
        </p:nvSpPr>
        <p:spPr>
          <a:xfrm>
            <a:off x="514349" y="1218342"/>
            <a:ext cx="568382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Efficacy / Specificity / General capability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8490BB-0B37-4D3F-ABF5-3F197F68311E}"/>
              </a:ext>
            </a:extLst>
          </p:cNvPr>
          <p:cNvSpPr>
            <a:spLocks noGrp="1"/>
          </p:cNvSpPr>
          <p:nvPr/>
        </p:nvSpPr>
        <p:spPr>
          <a:xfrm>
            <a:off x="6536459" y="1230849"/>
            <a:ext cx="4514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Per-cell comparison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417B7F-C5B3-4857-8B63-9800F9AA310B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Placeholder intentionally left open for future result material.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7B5D55C-BF0F-919D-045B-104B3B6F2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07305"/>
            <a:ext cx="6160921" cy="380246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50132F4-56E7-33F6-1431-90128F06AC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01" y="1707305"/>
            <a:ext cx="5849124" cy="336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710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70BD5EA-60F2-4A93-A6B6-FCF02A793D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0D7B62-8D5B-4C46-8452-660DDA8273C0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lang="en-US" altLang="zh-CN" sz="2175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Case Study</a:t>
            </a:r>
            <a:endParaRPr sz="2175" b="1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45F1A1-CA7A-4C03-B1F4-9086108B6A1C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04139E3-ADF3-8F70-7FA0-9981F668C3D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470" b="23548"/>
          <a:stretch>
            <a:fillRect/>
          </a:stretch>
        </p:blipFill>
        <p:spPr>
          <a:xfrm>
            <a:off x="514350" y="862445"/>
            <a:ext cx="10476923" cy="524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25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140DE-517B-28FD-78D7-D82EDE8FC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7B2F6F8-2C89-16F7-13E4-B4EBF16201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003971-75E4-CE45-4115-DBC732183D2A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lang="en-US" altLang="zh-CN" sz="2175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Case Study</a:t>
            </a:r>
            <a:endParaRPr sz="2175" b="1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FEEF54-6594-7797-43C1-A2933D371895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C99A73-AF88-3D15-C69B-318A7BDD2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552" y="78509"/>
            <a:ext cx="6987811" cy="670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48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4DAF1842-3B91-429E-AE6E-B9D646A89B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52105B-D151-42A5-A68F-FF61E685DC2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Extension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672A60-EA1B-4AA6-932D-C43C774DCD09}"/>
              </a:ext>
            </a:extLst>
          </p:cNvPr>
          <p:cNvSpPr>
            <a:spLocks noGrp="1"/>
          </p:cNvSpPr>
          <p:nvPr/>
        </p:nvSpPr>
        <p:spPr>
          <a:xfrm>
            <a:off x="514350" y="80010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088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We probe whether FUR's conclusions depend on one fixed loss design.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7FEC19-C86D-4029-9713-0E88579DB9FE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8D9B00-8EB1-48EE-84B3-11ED26423F0A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Regularization sweep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51331B-EF58-4781-BA64-F883121A4E11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44767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7C7E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0891FA-D3B8-4661-B892-1C2AD30ED558}"/>
              </a:ext>
            </a:extLst>
          </p:cNvPr>
          <p:cNvSpPr>
            <a:spLocks noGrp="1"/>
          </p:cNvSpPr>
          <p:nvPr/>
        </p:nvSpPr>
        <p:spPr>
          <a:xfrm>
            <a:off x="971550" y="2635250"/>
            <a:ext cx="43434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Vary lambda to study the trade-off between forgetting strength, specificity, and faithfulness.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64EB08-3FF2-43E4-9C03-50B132F0E8C1}"/>
              </a:ext>
            </a:extLst>
          </p:cNvPr>
          <p:cNvSpPr>
            <a:spLocks noGrp="1"/>
          </p:cNvSpPr>
          <p:nvPr/>
        </p:nvSpPr>
        <p:spPr>
          <a:xfrm>
            <a:off x="6572250" y="13525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Forget-side replacement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E52A5D-145C-4917-9952-BC806EE249A6}"/>
              </a:ext>
            </a:extLst>
          </p:cNvPr>
          <p:cNvSpPr>
            <a:spLocks noGrp="1"/>
          </p:cNvSpPr>
          <p:nvPr/>
        </p:nvSpPr>
        <p:spPr>
          <a:xfrm>
            <a:off x="6572250" y="1828800"/>
            <a:ext cx="1809750" cy="9906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66B2E3-CBAC-4B11-9DC3-F402E0070B1B}"/>
              </a:ext>
            </a:extLst>
          </p:cNvPr>
          <p:cNvSpPr>
            <a:spLocks noGrp="1"/>
          </p:cNvSpPr>
          <p:nvPr/>
        </p:nvSpPr>
        <p:spPr>
          <a:xfrm>
            <a:off x="6705600" y="1943100"/>
            <a:ext cx="154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Original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427715-0CDD-45DD-8673-8091053037CC}"/>
              </a:ext>
            </a:extLst>
          </p:cNvPr>
          <p:cNvSpPr>
            <a:spLocks noGrp="1"/>
          </p:cNvSpPr>
          <p:nvPr/>
        </p:nvSpPr>
        <p:spPr>
          <a:xfrm>
            <a:off x="6705600" y="2352675"/>
            <a:ext cx="15430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NPO + KL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C1344B-64BC-4A38-A0DA-59774A06516A}"/>
              </a:ext>
            </a:extLst>
          </p:cNvPr>
          <p:cNvSpPr>
            <a:spLocks noGrp="1"/>
          </p:cNvSpPr>
          <p:nvPr/>
        </p:nvSpPr>
        <p:spPr>
          <a:xfrm>
            <a:off x="8515350" y="2314575"/>
            <a:ext cx="400050" cy="19050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A64552-8985-432C-9178-B2F8CC6DB18F}"/>
              </a:ext>
            </a:extLst>
          </p:cNvPr>
          <p:cNvSpPr>
            <a:spLocks noGrp="1"/>
          </p:cNvSpPr>
          <p:nvPr/>
        </p:nvSpPr>
        <p:spPr>
          <a:xfrm>
            <a:off x="8896350" y="2200275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&gt;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8BE3A7-B5F4-4E99-AD01-B5CD71A59DD7}"/>
              </a:ext>
            </a:extLst>
          </p:cNvPr>
          <p:cNvSpPr>
            <a:spLocks noGrp="1"/>
          </p:cNvSpPr>
          <p:nvPr/>
        </p:nvSpPr>
        <p:spPr>
          <a:xfrm>
            <a:off x="9201150" y="1828800"/>
            <a:ext cx="1809750" cy="990600"/>
          </a:xfrm>
          <a:prstGeom prst="rect">
            <a:avLst/>
          </a:prstGeom>
          <a:solidFill>
            <a:srgbClr val="EEF4FF"/>
          </a:solidFill>
          <a:ln w="13335">
            <a:solidFill>
              <a:srgbClr val="0E419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D01561-10F6-4FEF-B731-F26D2236D91A}"/>
              </a:ext>
            </a:extLst>
          </p:cNvPr>
          <p:cNvSpPr>
            <a:spLocks noGrp="1"/>
          </p:cNvSpPr>
          <p:nvPr/>
        </p:nvSpPr>
        <p:spPr>
          <a:xfrm>
            <a:off x="9334500" y="1943100"/>
            <a:ext cx="154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Primary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D85D2A-6F09-469B-98FD-B6D6D5F55761}"/>
              </a:ext>
            </a:extLst>
          </p:cNvPr>
          <p:cNvSpPr>
            <a:spLocks noGrp="1"/>
          </p:cNvSpPr>
          <p:nvPr/>
        </p:nvSpPr>
        <p:spPr>
          <a:xfrm>
            <a:off x="9334500" y="2352675"/>
            <a:ext cx="15430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SimNPO + KL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C0633B-6BA8-4DC7-B97D-8F4D751D4BFE}"/>
              </a:ext>
            </a:extLst>
          </p:cNvPr>
          <p:cNvSpPr>
            <a:spLocks noGrp="1"/>
          </p:cNvSpPr>
          <p:nvPr/>
        </p:nvSpPr>
        <p:spPr>
          <a:xfrm>
            <a:off x="7832436" y="3390900"/>
            <a:ext cx="1928668" cy="876300"/>
          </a:xfrm>
          <a:prstGeom prst="rect">
            <a:avLst/>
          </a:prstGeom>
          <a:solidFill>
            <a:srgbClr val="FFFFFF"/>
          </a:solidFill>
          <a:ln w="13335">
            <a:solidFill>
              <a:srgbClr val="C0000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867977-7A13-4E14-916E-DC21A062F24F}"/>
              </a:ext>
            </a:extLst>
          </p:cNvPr>
          <p:cNvSpPr>
            <a:spLocks noGrp="1"/>
          </p:cNvSpPr>
          <p:nvPr/>
        </p:nvSpPr>
        <p:spPr>
          <a:xfrm>
            <a:off x="8001000" y="3505200"/>
            <a:ext cx="154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0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Fallback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D1CD9C-47E5-423E-ACED-4C706C5314B4}"/>
              </a:ext>
            </a:extLst>
          </p:cNvPr>
          <p:cNvSpPr>
            <a:spLocks noGrp="1"/>
          </p:cNvSpPr>
          <p:nvPr/>
        </p:nvSpPr>
        <p:spPr>
          <a:xfrm>
            <a:off x="7851486" y="3914775"/>
            <a:ext cx="1909618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Gradient Ascent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5779606-8193-4DD7-9CD1-F1C1F6A12BF5}"/>
              </a:ext>
            </a:extLst>
          </p:cNvPr>
          <p:cNvSpPr>
            <a:spLocks noGrp="1"/>
          </p:cNvSpPr>
          <p:nvPr/>
        </p:nvSpPr>
        <p:spPr>
          <a:xfrm>
            <a:off x="9239250" y="2895600"/>
            <a:ext cx="19050" cy="304800"/>
          </a:xfrm>
          <a:prstGeom prst="rect">
            <a:avLst/>
          </a:prstGeom>
          <a:solidFill>
            <a:srgbClr val="C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0C1AB72-F494-4612-9A7E-355903CD6CF8}"/>
              </a:ext>
            </a:extLst>
          </p:cNvPr>
          <p:cNvSpPr>
            <a:spLocks noGrp="1"/>
          </p:cNvSpPr>
          <p:nvPr/>
        </p:nvSpPr>
        <p:spPr>
          <a:xfrm>
            <a:off x="9144000" y="3162300"/>
            <a:ext cx="22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C00000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C00000"/>
                </a:solidFill>
                <a:latin typeface="Tahoma"/>
                <a:ea typeface="Tahoma"/>
                <a:cs typeface="Tahoma"/>
              </a:rPr>
              <a:t>v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46577B6-3A6C-4E69-A05B-5B9961D244EF}"/>
              </a:ext>
            </a:extLst>
          </p:cNvPr>
          <p:cNvSpPr>
            <a:spLocks noGrp="1"/>
          </p:cNvSpPr>
          <p:nvPr/>
        </p:nvSpPr>
        <p:spPr>
          <a:xfrm>
            <a:off x="1686214" y="4876800"/>
            <a:ext cx="8667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595959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595959"/>
                </a:solidFill>
                <a:latin typeface="Tahoma"/>
                <a:ea typeface="Tahoma"/>
                <a:cs typeface="Tahoma"/>
              </a:rPr>
              <a:t>The goal is robustness: if FUR is really measuring parametric faithfulness, the broad pattern should survive reasonable loss variants.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D8A0A38-57EC-48DB-865D-4F80A80DDEB7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Source: Group 1 proposal.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6645AAF-4A17-7F39-A765-D22892DD48E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1" y="1920491"/>
            <a:ext cx="3688533" cy="36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9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23404A4-D08B-4DA6-BBB8-BFC976917B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0D3C9F-ED45-4089-A3BE-2B36DBFCAA35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200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Thanks</a:t>
            </a:r>
            <a:r>
              <a:rPr lang="zh-CN" altLang="en-US" sz="3200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！</a:t>
            </a:r>
            <a:endParaRPr sz="3200" b="1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F2C410-DB3A-4F04-8347-C25789D5DF34}"/>
              </a:ext>
            </a:extLst>
          </p:cNvPr>
          <p:cNvSpPr>
            <a:spLocks noGrp="1"/>
          </p:cNvSpPr>
          <p:nvPr/>
        </p:nvSpPr>
        <p:spPr>
          <a:xfrm>
            <a:off x="11363325" y="61055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7EDDE1-F04B-48F0-9FF4-4908E820853F}"/>
              </a:ext>
            </a:extLst>
          </p:cNvPr>
          <p:cNvSpPr>
            <a:spLocks noGrp="1"/>
          </p:cNvSpPr>
          <p:nvPr/>
        </p:nvSpPr>
        <p:spPr>
          <a:xfrm>
            <a:off x="1066800" y="1333500"/>
            <a:ext cx="361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40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Three takeaways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7CFB63-EBE5-4FCF-AEB0-9F8FF6BB07A7}"/>
              </a:ext>
            </a:extLst>
          </p:cNvPr>
          <p:cNvSpPr>
            <a:spLocks noGrp="1"/>
          </p:cNvSpPr>
          <p:nvPr/>
        </p:nvSpPr>
        <p:spPr>
          <a:xfrm>
            <a:off x="1295400" y="1981200"/>
            <a:ext cx="8953500" cy="200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1. </a:t>
            </a:r>
            <a:r>
              <a:rPr sz="24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CoT</a:t>
            </a: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plausibility is not the same as </a:t>
            </a:r>
            <a:r>
              <a:rPr sz="24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CoT</a:t>
            </a: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faithfulness.</a:t>
            </a:r>
          </a:p>
          <a:p>
            <a:endParaRPr sz="240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l">
              <a:defRPr sz="19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2. FUR turns faithfulness into a parameter-intervention question.</a:t>
            </a:r>
          </a:p>
          <a:p>
            <a:endParaRPr sz="2400" b="0" dirty="0">
              <a:solidFill>
                <a:srgbClr val="111111"/>
              </a:solidFill>
              <a:latin typeface="Tahoma"/>
              <a:ea typeface="Tahoma"/>
              <a:cs typeface="Tahoma"/>
            </a:endParaRPr>
          </a:p>
          <a:p>
            <a:pPr algn="l">
              <a:defRPr sz="19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4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3. Our project reproduces the core workflow and tests whether the loss design is robust.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1ACCD1-8D63-46B3-A6FA-0746E5DAEB37}"/>
              </a:ext>
            </a:extLst>
          </p:cNvPr>
          <p:cNvSpPr>
            <a:spLocks noGrp="1"/>
          </p:cNvSpPr>
          <p:nvPr/>
        </p:nvSpPr>
        <p:spPr>
          <a:xfrm>
            <a:off x="1295400" y="4495800"/>
            <a:ext cx="8572500" cy="28575"/>
          </a:xfrm>
          <a:prstGeom prst="rect">
            <a:avLst/>
          </a:prstGeom>
          <a:solidFill>
            <a:srgbClr val="0E41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2A6587-AF8B-464E-848D-89EB8AF6BF9F}"/>
              </a:ext>
            </a:extLst>
          </p:cNvPr>
          <p:cNvSpPr>
            <a:spLocks noGrp="1"/>
          </p:cNvSpPr>
          <p:nvPr/>
        </p:nvSpPr>
        <p:spPr>
          <a:xfrm>
            <a:off x="1295400" y="483870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0E419C"/>
                </a:solidFill>
                <a:latin typeface="Tahoma"/>
                <a:ea typeface="Tahoma"/>
                <a:cs typeface="Tahoma"/>
              </a:defRPr>
            </a:pPr>
            <a:r>
              <a:rPr sz="2550" b="1" dirty="0">
                <a:solidFill>
                  <a:srgbClr val="0E419C"/>
                </a:solidFill>
                <a:latin typeface="Tahoma"/>
                <a:ea typeface="Tahoma"/>
                <a:cs typeface="Tahoma"/>
              </a:rPr>
              <a:t>Questions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A08989-E05B-433A-AA0A-F6AEE4681D6A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876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F6F6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F6F6F"/>
                </a:solidFill>
                <a:latin typeface="Tahoma"/>
                <a:ea typeface="Tahoma"/>
                <a:cs typeface="Tahoma"/>
              </a:rPr>
              <a:t>Main reference: Tutek et al. (2025), Measuring Chain of Thought Faithfulness by Unlearning Reasoning Steps.</a:t>
            </a:r>
          </a:p>
        </p:txBody>
      </p:sp>
    </p:spTree>
    <p:extLst>
      <p:ext uri="{BB962C8B-B14F-4D97-AF65-F5344CB8AC3E}">
        <p14:creationId xmlns:p14="http://schemas.microsoft.com/office/powerpoint/2010/main" val="9090027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9.7338"/>
  <p:tag name="ORIGINALWIDTH" val=" 1223.847"/>
  <p:tag name="OUTPUTTYPE" val="PNG"/>
  <p:tag name="IGUANATEXVERSION" val="162"/>
  <p:tag name="LATEXADDIN" val="\documentclass{article}&#10;\usepackage{amsmath}&#10;\pagestyle{empty}&#10;\begin{document}&#10;&#10;$$ \mathcal{L}=\mathcal{L}_{NPO, \beta}(\theta)+\mathcal{K}_{RT}$$&#10;&#10;\end{document}"/>
  <p:tag name="IGUANATEXSIZE" val="28"/>
  <p:tag name="IGUANATEXCURSOR" val="9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1.2298"/>
  <p:tag name="ORIGINALWIDTH" val=" 1741.282"/>
  <p:tag name="OUTPUTTYPE" val="PNG"/>
  <p:tag name="IGUANATEXVERSION" val="162"/>
  <p:tag name="LATEXADDIN" val="\documentclass{article}&#10;\usepackage{amsmath}&#10;\pagestyle{empty}&#10;\begin{document}&#10;&#10;$$ \text{ff}_{\text{hard}} = \mathbf{1}[\exists r_i \text{ such that } y \neq y^{(i)}_*]$$&#10;&#10;\end{document}"/>
  <p:tag name="IGUANATEXSIZE" val="28"/>
  <p:tag name="IGUANATEXCURSOR" val="10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7.979"/>
  <p:tag name="ORIGINALWIDTH" val=" 1637.795"/>
  <p:tag name="OUTPUTTYPE" val="PNG"/>
  <p:tag name="IGUANATEXVERSION" val="162"/>
  <p:tag name="LATEXADDIN" val="\documentclass{article}&#10;\usepackage{amsmath}&#10;\pagestyle{empty}&#10;\begin{document}&#10;&#10;$$ \text{ff}_{\text{soft}}^{(i)} = p(y \mid M) - p(y \mid M^{(i)^*})$$&#10;&#10;\end{document}"/>
  <p:tag name="IGUANATEXSIZE" val="28"/>
  <p:tag name="IGUANATEXCURSOR" val="14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9.7338"/>
  <p:tag name="ORIGINALWIDTH" val=" 1296.588"/>
  <p:tag name="OUTPUTTYPE" val="PNG"/>
  <p:tag name="IGUANATEXVERSION" val="162"/>
  <p:tag name="LATEXADDIN" val="\documentclass{article}&#10;\usepackage{amsmath}&#10;\pagestyle{empty}&#10;\begin{document}&#10;&#10;$$ \mathcal{L}=\mathcal{L}_{NPO, \beta}(\theta)+\lambda\mathcal{K}_{RT}$$&#10;&#10;\end{document}"/>
  <p:tag name="IGUANATEXSIZE" val="28"/>
  <p:tag name="IGUANATEXCURSOR" val="13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1390</Words>
  <Application>Microsoft Office PowerPoint</Application>
  <DocSecurity>0</DocSecurity>
  <PresentationFormat>宽屏</PresentationFormat>
  <Paragraphs>255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Calibri</vt:lpstr>
      <vt:lpstr>Tahoma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Loong Chen</cp:lastModifiedBy>
  <cp:revision>5</cp:revision>
  <dcterms:created xsi:type="dcterms:W3CDTF">2026-05-14T03:30:52Z</dcterms:created>
  <dcterms:modified xsi:type="dcterms:W3CDTF">2026-05-18T11:30:13Z</dcterms:modified>
</cp:coreProperties>
</file>