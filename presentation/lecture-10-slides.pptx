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32" r:id="rId1"/>
  </p:sldMasterIdLst>
  <p:notesMasterIdLst>
    <p:notesMasterId r:id="rId22"/>
  </p:notesMasterIdLst>
  <p:sldIdLst>
    <p:sldId id="898" r:id="rId2"/>
    <p:sldId id="1240" r:id="rId3"/>
    <p:sldId id="1244" r:id="rId4"/>
    <p:sldId id="1237" r:id="rId5"/>
    <p:sldId id="1238" r:id="rId6"/>
    <p:sldId id="1279" r:id="rId7"/>
    <p:sldId id="1239" r:id="rId8"/>
    <p:sldId id="1280" r:id="rId9"/>
    <p:sldId id="1281" r:id="rId10"/>
    <p:sldId id="1242" r:id="rId11"/>
    <p:sldId id="1243" r:id="rId12"/>
    <p:sldId id="1282" r:id="rId13"/>
    <p:sldId id="336" r:id="rId14"/>
    <p:sldId id="1283" r:id="rId15"/>
    <p:sldId id="1284" r:id="rId16"/>
    <p:sldId id="1285" r:id="rId17"/>
    <p:sldId id="1287" r:id="rId18"/>
    <p:sldId id="1286" r:id="rId19"/>
    <p:sldId id="1288" r:id="rId20"/>
    <p:sldId id="12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1" userDrawn="1">
          <p15:clr>
            <a:srgbClr val="A4A3A4"/>
          </p15:clr>
        </p15:guide>
        <p15:guide id="3" pos="4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B6D7A8"/>
    <a:srgbClr val="FFF2CC"/>
    <a:srgbClr val="F4CCCC"/>
    <a:srgbClr val="C6BEDF"/>
    <a:srgbClr val="FACCDF"/>
    <a:srgbClr val="FDF9C0"/>
    <a:srgbClr val="C1EAF8"/>
    <a:srgbClr val="FCE0E1"/>
    <a:srgbClr val="C2E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41" autoAdjust="0"/>
    <p:restoredTop sz="82392" autoAdjust="0"/>
  </p:normalViewPr>
  <p:slideViewPr>
    <p:cSldViewPr snapToGrid="0" showGuides="1">
      <p:cViewPr varScale="1">
        <p:scale>
          <a:sx n="187" d="100"/>
          <a:sy n="187" d="100"/>
        </p:scale>
        <p:origin x="2032" y="184"/>
      </p:cViewPr>
      <p:guideLst>
        <p:guide orient="horz" pos="981"/>
        <p:guide pos="415"/>
      </p:guideLst>
    </p:cSldViewPr>
  </p:slideViewPr>
  <p:notesTextViewPr>
    <p:cViewPr>
      <p:scale>
        <a:sx n="105" d="100"/>
        <a:sy n="10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01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C55E9-3775-47B8-A9FF-F98F72BF2A58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74C5D-8905-4D81-BE92-D035E374EA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86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Clustering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/>
              <a:t>summarization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94030-89A1-44FA-85C8-A64C416128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9109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A835D0-8F7F-D848-919E-ABF6C3BA945A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489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ColBERT</a:t>
            </a:r>
            <a:r>
              <a:rPr lang="en-US" dirty="0"/>
              <a:t> </a:t>
            </a:r>
            <a:r>
              <a:rPr lang="zh-CN" altLang="en-US" dirty="0"/>
              <a:t>采用 </a:t>
            </a:r>
            <a:r>
              <a:rPr lang="zh-CN" altLang="en-US" b="1" dirty="0"/>
              <a:t>后交互（</a:t>
            </a:r>
            <a:r>
              <a:rPr lang="en-US" b="1" dirty="0"/>
              <a:t>late interaction）</a:t>
            </a:r>
            <a:r>
              <a:rPr lang="en-US" dirty="0"/>
              <a:t> </a:t>
            </a:r>
            <a:r>
              <a:rPr lang="zh-CN" altLang="en-US" dirty="0"/>
              <a:t>架构：首先用 </a:t>
            </a:r>
            <a:r>
              <a:rPr lang="en-US" dirty="0"/>
              <a:t>BERT </a:t>
            </a:r>
            <a:r>
              <a:rPr lang="zh-CN" altLang="en-US" dirty="0"/>
              <a:t>分别对查询和文档独立编码，然后通过轻量级的 </a:t>
            </a:r>
            <a:r>
              <a:rPr lang="zh-CN" altLang="en-US" b="1" dirty="0"/>
              <a:t>词级相似度匹配</a:t>
            </a:r>
            <a:r>
              <a:rPr lang="zh-CN" altLang="en-US" dirty="0"/>
              <a:t> 保留细粒度的相关性信息。</a:t>
            </a:r>
          </a:p>
          <a:p>
            <a:endParaRPr lang="en-US" altLang="zh-CN" dirty="0"/>
          </a:p>
          <a:p>
            <a:r>
              <a:rPr lang="zh-CN" altLang="en-US" dirty="0"/>
              <a:t>允许文档向量提前预计算并建立索引，使得检索过程在保持高精度的同时，比传统的跨编码器（</a:t>
            </a:r>
            <a:r>
              <a:rPr lang="en-US" dirty="0" err="1"/>
              <a:t>cross-encoder）BERT</a:t>
            </a:r>
            <a:r>
              <a:rPr lang="en-US" dirty="0"/>
              <a:t> </a:t>
            </a:r>
            <a:r>
              <a:rPr lang="zh-CN" altLang="en-US" dirty="0"/>
              <a:t>排序方法快上数个数量级。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477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895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03284-647F-470C-AE41-2C3FA78D75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solidFill>
            <a:schemeClr val="accent1"/>
          </a:solidFill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Introduction to NLP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2747E6-4E72-4435-AB9D-9122E0C57B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Baojian Zhou</a:t>
            </a:r>
          </a:p>
          <a:p>
            <a:r>
              <a:rPr lang="en-US" altLang="zh-CN" dirty="0"/>
              <a:t>School of Data Science, Fudan University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C91BB9-1D1F-408E-9F55-1C077A94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8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BD662-EB3C-4EAF-9A3A-38E08CA48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326" y="241334"/>
            <a:ext cx="11553826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A57540-AA61-4F49-8204-5904B128EF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7525" y="1108433"/>
            <a:ext cx="11064875" cy="5508233"/>
          </a:xfrm>
        </p:spPr>
        <p:txBody>
          <a:bodyPr/>
          <a:lstStyle>
            <a:lvl1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This is a test.</a:t>
            </a:r>
            <a:endParaRPr lang="zh-CN" altLang="en-US" dirty="0"/>
          </a:p>
          <a:p>
            <a:pPr lvl="1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  <a:p>
            <a:pPr lvl="2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endParaRPr lang="zh-CN" altLang="en-US" dirty="0"/>
          </a:p>
          <a:p>
            <a:pPr lvl="3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A9ACEB-7451-41A7-93BA-D817C10377AE}"/>
              </a:ext>
            </a:extLst>
          </p:cNvPr>
          <p:cNvSpPr/>
          <p:nvPr userDrawn="1"/>
        </p:nvSpPr>
        <p:spPr>
          <a:xfrm>
            <a:off x="314326" y="851723"/>
            <a:ext cx="11553826" cy="45719"/>
          </a:xfrm>
          <a:prstGeom prst="rect">
            <a:avLst/>
          </a:prstGeom>
          <a:solidFill>
            <a:srgbClr val="174593"/>
          </a:solidFill>
          <a:ln>
            <a:solidFill>
              <a:srgbClr val="1745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2C4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16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CE11DDF-65F3-45D5-B724-62F94032D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720850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内容占位符 3">
            <a:extLst>
              <a:ext uri="{FF2B5EF4-FFF2-40B4-BE49-F238E27FC236}">
                <a16:creationId xmlns:a16="http://schemas.microsoft.com/office/drawing/2014/main" id="{96484387-4DE1-4B3F-9BF4-D38DF0613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720850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0F00D199-7DD3-488F-BEEF-DF09657F7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75" y="66676"/>
            <a:ext cx="12049125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601FE1-B52B-4595-BD97-220067DB7375}"/>
              </a:ext>
            </a:extLst>
          </p:cNvPr>
          <p:cNvSpPr/>
          <p:nvPr userDrawn="1"/>
        </p:nvSpPr>
        <p:spPr>
          <a:xfrm>
            <a:off x="66675" y="677065"/>
            <a:ext cx="12049125" cy="77587"/>
          </a:xfrm>
          <a:prstGeom prst="rect">
            <a:avLst/>
          </a:prstGeom>
          <a:solidFill>
            <a:srgbClr val="174593"/>
          </a:solidFill>
          <a:ln>
            <a:solidFill>
              <a:srgbClr val="1745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2C4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12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D4B963-4689-4C0B-A3E7-5D0A516F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29"/>
            <a:ext cx="12191998" cy="554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2EC4EC-EEC9-4E2B-8910-81CDFB604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567267"/>
            <a:ext cx="12191998" cy="5925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This is a test</a:t>
            </a:r>
            <a:endParaRPr lang="zh-CN" altLang="en-US" dirty="0"/>
          </a:p>
          <a:p>
            <a:pPr lvl="1"/>
            <a:r>
              <a:rPr lang="en-US" altLang="zh-CN" dirty="0"/>
              <a:t>This is a test</a:t>
            </a:r>
            <a:endParaRPr lang="zh-CN" altLang="en-US" dirty="0"/>
          </a:p>
          <a:p>
            <a:pPr lvl="2"/>
            <a:r>
              <a:rPr lang="en-US" altLang="zh-CN" dirty="0"/>
              <a:t>This is a test</a:t>
            </a:r>
            <a:endParaRPr lang="zh-CN" altLang="en-US" dirty="0"/>
          </a:p>
          <a:p>
            <a:pPr lvl="3"/>
            <a:r>
              <a:rPr lang="en-US" altLang="zh-CN" dirty="0"/>
              <a:t>This is a test</a:t>
            </a:r>
            <a:endParaRPr lang="zh-CN" altLang="en-US" dirty="0"/>
          </a:p>
          <a:p>
            <a:pPr lvl="4"/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C9E46-0E5F-49EF-B30B-D978E95AB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6266" y="6492875"/>
            <a:ext cx="575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1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arxiv.org/pdf/2401.01301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aclanthology.org/2025.coling-main.94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hyperlink" Target="https://aclanthology.org/2023.acl-long.546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storini/pyserini" TargetMode="External"/><Relationship Id="rId7" Type="http://schemas.openxmlformats.org/officeDocument/2006/relationships/image" Target="../media/image21.png"/><Relationship Id="rId2" Type="http://schemas.openxmlformats.org/officeDocument/2006/relationships/hyperlink" Target="https://www.elastic.co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github.com/primeqa/primeqa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004.12832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224u/slides/cs224u-neuralir-2023-handout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DC680-57FE-4360-8D62-7C774E5A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0974" y="976172"/>
            <a:ext cx="10443078" cy="1422073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0E419C"/>
                </a:solidFill>
              </a:rPr>
              <a:t>Lecture 10 –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E419C"/>
                </a:solidFill>
              </a:rPr>
              <a:t>Information Retrieval and</a:t>
            </a:r>
            <a:r>
              <a:rPr lang="zh-CN" altLang="en-US" dirty="0">
                <a:solidFill>
                  <a:srgbClr val="0E419C"/>
                </a:solidFill>
              </a:rPr>
              <a:t> </a:t>
            </a:r>
            <a:r>
              <a:rPr lang="en-US" dirty="0">
                <a:solidFill>
                  <a:srgbClr val="0E419C"/>
                </a:solidFill>
              </a:rPr>
              <a:t>Retrieval-Augmented Generation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BA0913-FFCB-4BC5-85DA-4B598BB8D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3978"/>
            <a:ext cx="9144000" cy="2554645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Baojian Zhou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CS40008.01: NLP &amp; LLMs</a:t>
            </a:r>
            <a:br>
              <a:rPr lang="en-US" altLang="zh-CN" sz="2000" dirty="0">
                <a:solidFill>
                  <a:srgbClr val="0E419C"/>
                </a:solidFill>
              </a:rPr>
            </a:br>
            <a:r>
              <a:rPr lang="en-US" altLang="zh-CN" sz="2000" dirty="0">
                <a:solidFill>
                  <a:srgbClr val="0E419C"/>
                </a:solidFill>
              </a:rPr>
              <a:t> School of Data Science Fudan University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05/14/2026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5388F10-FFAF-40CE-8463-CBC71099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7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BB43-1563-7E93-2950-4427B6E6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E675B-8ADC-D5E6-5213-F160DC166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C4AE6C-2BE9-0A7B-14A6-17FF11318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5" y="1108433"/>
            <a:ext cx="11064875" cy="2320567"/>
          </a:xfrm>
        </p:spPr>
        <p:txBody>
          <a:bodyPr/>
          <a:lstStyle/>
          <a:p>
            <a:r>
              <a:rPr lang="en-US" altLang="zh-CN" dirty="0"/>
              <a:t>I</a:t>
            </a:r>
            <a:r>
              <a:rPr lang="en-US" dirty="0"/>
              <a:t>mportant function of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dirty="0"/>
              <a:t>is</a:t>
            </a:r>
            <a:r>
              <a:rPr lang="zh-CN" altLang="en-US" dirty="0"/>
              <a:t> </a:t>
            </a:r>
            <a:r>
              <a:rPr lang="en-US" dirty="0"/>
              <a:t>to fill human information needs by answering people’s questions</a:t>
            </a:r>
          </a:p>
          <a:p>
            <a:endParaRPr lang="en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522EB6-AA9B-03A9-499B-76A57F3BC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63662"/>
            <a:ext cx="4339129" cy="4329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6F12ED-320D-B6FA-8098-C26779D98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408" y="1922329"/>
            <a:ext cx="4344067" cy="4694337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D126B5D1-B444-8B4D-E183-C066D94E2A6E}"/>
              </a:ext>
            </a:extLst>
          </p:cNvPr>
          <p:cNvSpPr/>
          <p:nvPr/>
        </p:nvSpPr>
        <p:spPr>
          <a:xfrm>
            <a:off x="4829505" y="3259628"/>
            <a:ext cx="2522483" cy="41267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207993-1781-9028-F330-0D0002FF296B}"/>
              </a:ext>
            </a:extLst>
          </p:cNvPr>
          <p:cNvSpPr txBox="1"/>
          <p:nvPr/>
        </p:nvSpPr>
        <p:spPr>
          <a:xfrm>
            <a:off x="5177397" y="4637771"/>
            <a:ext cx="2232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searching</a:t>
            </a:r>
            <a:r>
              <a:rPr lang="zh-CN" altLang="en-US" dirty="0"/>
              <a:t> </a:t>
            </a:r>
            <a:r>
              <a:rPr lang="en-US" altLang="zh-CN" dirty="0"/>
              <a:t>engine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GPT5.1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515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3C59-8FF4-85B7-5BA0-B8C073E25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factoid questions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7CF0E-B379-C834-9A14-FE810138D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AF404-8044-B06D-8E00-F2C8D96D2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5" y="1108433"/>
            <a:ext cx="10103528" cy="5002281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400" dirty="0"/>
              <a:t>Where is the </a:t>
            </a:r>
            <a:r>
              <a:rPr lang="en-US" altLang="zh-CN" sz="2400" dirty="0"/>
              <a:t>Fudan</a:t>
            </a:r>
            <a:r>
              <a:rPr lang="zh-CN" altLang="en-US" sz="2400" dirty="0"/>
              <a:t> </a:t>
            </a:r>
            <a:r>
              <a:rPr lang="en-US" altLang="zh-CN" sz="2400" dirty="0"/>
              <a:t>University</a:t>
            </a:r>
            <a:r>
              <a:rPr lang="zh-CN" altLang="en-US" sz="2400" dirty="0"/>
              <a:t> </a:t>
            </a:r>
            <a:r>
              <a:rPr lang="en-US" sz="2400" dirty="0"/>
              <a:t>located?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400" dirty="0"/>
              <a:t>Where does the energy in a nuclear explosion come from?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400" dirty="0"/>
              <a:t>How to get a script l in latex?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endParaRPr lang="en-US" sz="24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400" dirty="0"/>
              <a:t>To get an LLM to answer these questions, we can just prompt it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US" altLang="zh-CN" sz="2400" dirty="0"/>
              <a:t>by performing conditional generation given this prefix, and take the response as the</a:t>
            </a:r>
            <a:r>
              <a:rPr lang="zh-CN" altLang="en-US" sz="2400" dirty="0"/>
              <a:t> </a:t>
            </a:r>
            <a:r>
              <a:rPr lang="en-US" altLang="zh-CN" sz="2400" dirty="0"/>
              <a:t>answer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LLMs have processed a lot of facts in</a:t>
            </a:r>
            <a:r>
              <a:rPr lang="zh-CN" altLang="en-US" sz="2400" dirty="0"/>
              <a:t> </a:t>
            </a:r>
            <a:r>
              <a:rPr lang="en-US" altLang="zh-CN" sz="2400" dirty="0"/>
              <a:t>their pretraining data, including the location of the</a:t>
            </a:r>
            <a:r>
              <a:rPr lang="zh-CN" altLang="en-US" sz="2400" dirty="0"/>
              <a:t> </a:t>
            </a:r>
            <a:r>
              <a:rPr lang="en-US" altLang="zh-CN" sz="2400" dirty="0"/>
              <a:t>Fudan</a:t>
            </a:r>
            <a:r>
              <a:rPr lang="zh-CN" altLang="en-US" sz="2400" dirty="0"/>
              <a:t> </a:t>
            </a:r>
            <a:r>
              <a:rPr lang="en-US" altLang="zh-CN" sz="2400" dirty="0"/>
              <a:t>University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many</a:t>
            </a:r>
            <a:r>
              <a:rPr lang="zh-CN" altLang="en-US" sz="2400" dirty="0"/>
              <a:t> </a:t>
            </a:r>
            <a:r>
              <a:rPr lang="en-US" altLang="zh-CN" sz="2400" dirty="0"/>
              <a:t>others.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AF201-2E74-94F1-2055-3B1B6FE76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29" y="1025500"/>
            <a:ext cx="10103528" cy="57571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C04588-A52B-D728-B36F-8C74D60859D3}"/>
              </a:ext>
            </a:extLst>
          </p:cNvPr>
          <p:cNvSpPr txBox="1"/>
          <p:nvPr/>
        </p:nvSpPr>
        <p:spPr>
          <a:xfrm>
            <a:off x="5876893" y="6110714"/>
            <a:ext cx="4818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b="1" dirty="0">
                <a:solidFill>
                  <a:srgbClr val="FF0000"/>
                </a:solidFill>
              </a:rPr>
              <a:t>But</a:t>
            </a:r>
            <a:r>
              <a:rPr lang="zh-CN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LLMs often give the wrong answer to factual</a:t>
            </a:r>
            <a:r>
              <a:rPr lang="zh-CN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questions!</a:t>
            </a:r>
            <a:r>
              <a:rPr lang="zh-CN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(hallucination)</a:t>
            </a:r>
          </a:p>
        </p:txBody>
      </p:sp>
    </p:spTree>
    <p:extLst>
      <p:ext uri="{BB962C8B-B14F-4D97-AF65-F5344CB8AC3E}">
        <p14:creationId xmlns:p14="http://schemas.microsoft.com/office/powerpoint/2010/main" val="258458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85FC-97B8-8C95-E26C-C42D5BC89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r>
              <a:rPr lang="zh-CN" altLang="en-US" dirty="0"/>
              <a:t> </a:t>
            </a:r>
            <a:r>
              <a:rPr lang="en-US" altLang="zh-CN" sz="4000" dirty="0">
                <a:solidFill>
                  <a:srgbClr val="00B050"/>
                </a:solidFill>
              </a:rPr>
              <a:t>factoid questions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55E7B-352A-C8AB-ED35-918CEF52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</a:t>
            </a:fld>
            <a:endParaRPr lang="zh-CN" alt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00B435-ECE4-1A31-C1B5-6F4A009E5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6475" y="1017223"/>
            <a:ext cx="5334744" cy="41220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B6304F-EF12-794D-9042-015F0BA9205F}"/>
              </a:ext>
            </a:extLst>
          </p:cNvPr>
          <p:cNvSpPr txBox="1"/>
          <p:nvPr/>
        </p:nvSpPr>
        <p:spPr>
          <a:xfrm>
            <a:off x="6791785" y="5304790"/>
            <a:ext cx="51900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b="1" dirty="0"/>
              <a:t>Hallucinations are common across</a:t>
            </a:r>
            <a:r>
              <a:rPr lang="zh-CN" altLang="en-US" b="1" dirty="0"/>
              <a:t> </a:t>
            </a:r>
            <a:r>
              <a:rPr lang="en-CN" b="1" dirty="0"/>
              <a:t>all LLMs when they are asked a direct, verifiable question about a federal court</a:t>
            </a:r>
            <a:r>
              <a:rPr lang="zh-CN" altLang="en-US" b="1" dirty="0"/>
              <a:t> </a:t>
            </a:r>
            <a:r>
              <a:rPr lang="en-CN" b="1" dirty="0"/>
              <a:t>case.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2CADE9-F476-298D-4A58-CD845AEB2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81" y="4560822"/>
            <a:ext cx="6411004" cy="1667298"/>
          </a:xfrm>
          <a:prstGeom prst="rect">
            <a:avLst/>
          </a:prstGeom>
        </p:spPr>
      </p:pic>
      <p:pic>
        <p:nvPicPr>
          <p:cNvPr id="14" name="Picture 13">
            <a:hlinkClick r:id="rId4"/>
            <a:extLst>
              <a:ext uri="{FF2B5EF4-FFF2-40B4-BE49-F238E27FC236}">
                <a16:creationId xmlns:a16="http://schemas.microsoft.com/office/drawing/2014/main" id="{444185EB-49BC-B8BB-5930-F441F122A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81" y="1327537"/>
            <a:ext cx="5229684" cy="275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5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A7360-C0AC-D1F4-5682-37D16C04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0A0A5-D7FC-23D1-0339-F768DE79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D77EB3-3B95-57B3-4CB0-3BDE01EDE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6" y="1108433"/>
            <a:ext cx="10581398" cy="5508233"/>
          </a:xfrm>
        </p:spPr>
        <p:txBody>
          <a:bodyPr>
            <a:normAutofit/>
          </a:bodyPr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LLM</a:t>
            </a:r>
            <a:r>
              <a:rPr lang="zh-CN" altLang="en-US" dirty="0"/>
              <a:t> </a:t>
            </a:r>
            <a:r>
              <a:rPr lang="en-US" altLang="zh-CN" dirty="0"/>
              <a:t>prompting</a:t>
            </a:r>
            <a:r>
              <a:rPr lang="zh-CN" altLang="en-US" dirty="0"/>
              <a:t> </a:t>
            </a:r>
            <a:r>
              <a:rPr lang="en-US" altLang="zh-CN" dirty="0"/>
              <a:t>fails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factual</a:t>
            </a:r>
            <a:r>
              <a:rPr lang="zh-CN" altLang="en-US" dirty="0"/>
              <a:t> </a:t>
            </a:r>
            <a:r>
              <a:rPr lang="en-US" altLang="zh-CN" dirty="0"/>
              <a:t>questions:</a:t>
            </a:r>
          </a:p>
          <a:p>
            <a:pPr lvl="1"/>
            <a:r>
              <a:rPr lang="en-US" b="1" dirty="0"/>
              <a:t>Hallucination Problem</a:t>
            </a:r>
          </a:p>
          <a:p>
            <a:pPr lvl="1"/>
            <a:r>
              <a:rPr lang="en-US" b="1" dirty="0"/>
              <a:t>No Access to Proprietary or Private Data</a:t>
            </a:r>
            <a:r>
              <a:rPr lang="en-US" altLang="zh-CN" b="1" dirty="0"/>
              <a:t>:</a:t>
            </a:r>
            <a:r>
              <a:rPr lang="zh-CN" altLang="en-US" b="1" dirty="0"/>
              <a:t> </a:t>
            </a:r>
            <a:r>
              <a:rPr lang="en-US" dirty="0"/>
              <a:t>Pretrained LLMs cannot answer questions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dirty="0"/>
              <a:t>Personal email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Medical records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Internal corporate documents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Legal discovery materials</a:t>
            </a:r>
          </a:p>
          <a:p>
            <a:pPr lvl="1"/>
            <a:r>
              <a:rPr lang="en-US" b="1" dirty="0"/>
              <a:t>Out-of-Date Knowledge</a:t>
            </a:r>
            <a:r>
              <a:rPr lang="en-US" altLang="zh-CN" b="1" dirty="0"/>
              <a:t>:</a:t>
            </a:r>
            <a:r>
              <a:rPr lang="zh-CN" altLang="en-US" b="1" dirty="0"/>
              <a:t> </a:t>
            </a:r>
            <a:r>
              <a:rPr lang="en-US" dirty="0"/>
              <a:t>LLMs are static snapshots of knowledge at pretraining time.</a:t>
            </a:r>
            <a:r>
              <a:rPr lang="zh-CN" altLang="en-US" dirty="0"/>
              <a:t> </a:t>
            </a:r>
            <a:r>
              <a:rPr lang="en-US" dirty="0"/>
              <a:t>Cannot answer questions about recent or fast-changing events (e.g., “what happened last week?”)</a:t>
            </a:r>
          </a:p>
          <a:p>
            <a:pPr lvl="1"/>
            <a:endParaRPr lang="en-US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58856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4DA5-B202-E54F-468E-71FB76FE2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RAG</a:t>
            </a:r>
            <a:r>
              <a:rPr lang="zh-CN" altLang="en-US" b="1" dirty="0"/>
              <a:t> </a:t>
            </a:r>
            <a:r>
              <a:rPr lang="en-US" sz="2800" b="1" dirty="0">
                <a:solidFill>
                  <a:srgbClr val="00B050"/>
                </a:solidFill>
              </a:rPr>
              <a:t>Retrieval-Augmented Generation</a:t>
            </a:r>
            <a:endParaRPr lang="en-CN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2CC3A-B39C-B779-1D4F-13C92B18E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5" y="1108433"/>
            <a:ext cx="9061603" cy="273204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 I</a:t>
            </a:r>
            <a:r>
              <a:rPr lang="en-US" altLang="zh-CN" dirty="0"/>
              <a:t>nformation</a:t>
            </a:r>
            <a:r>
              <a:rPr lang="zh-CN" altLang="en-US" dirty="0"/>
              <a:t> </a:t>
            </a:r>
            <a:r>
              <a:rPr lang="en-US" dirty="0"/>
              <a:t>R</a:t>
            </a:r>
            <a:r>
              <a:rPr lang="en-US" altLang="zh-CN" dirty="0"/>
              <a:t>etrieval</a:t>
            </a:r>
            <a:r>
              <a:rPr lang="en-US" dirty="0"/>
              <a:t> to </a:t>
            </a:r>
            <a:r>
              <a:rPr lang="en-US" b="1" dirty="0"/>
              <a:t>retrieve relevant documents</a:t>
            </a:r>
            <a:r>
              <a:rPr lang="en-US" dirty="0"/>
              <a:t> (e.g., proprietary, curated, or up-to-date sources).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Let the LLM </a:t>
            </a:r>
            <a:r>
              <a:rPr lang="en-US" b="1" dirty="0"/>
              <a:t>generate an answer using the retrieved documents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61CFD-1585-42EB-9239-F7AE13B7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7E4CF-7AC3-7C5D-B29F-E8242859190D}"/>
              </a:ext>
            </a:extLst>
          </p:cNvPr>
          <p:cNvSpPr txBox="1"/>
          <p:nvPr/>
        </p:nvSpPr>
        <p:spPr>
          <a:xfrm>
            <a:off x="977878" y="3775575"/>
            <a:ext cx="8601250" cy="2786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Advantages: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Ensures answers are </a:t>
            </a:r>
            <a:r>
              <a:rPr lang="en-US" sz="2400" b="1" dirty="0"/>
              <a:t>grounded in real, verifiable text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Provides </a:t>
            </a:r>
            <a:r>
              <a:rPr lang="en-US" sz="2400" b="1" dirty="0"/>
              <a:t>citation or context</a:t>
            </a:r>
            <a:r>
              <a:rPr lang="en-US" sz="2400" dirty="0"/>
              <a:t>, improving user trust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Overcomes hallucination, proprietary-data access issues, and factual staleness</a:t>
            </a:r>
          </a:p>
        </p:txBody>
      </p:sp>
    </p:spTree>
    <p:extLst>
      <p:ext uri="{BB962C8B-B14F-4D97-AF65-F5344CB8AC3E}">
        <p14:creationId xmlns:p14="http://schemas.microsoft.com/office/powerpoint/2010/main" val="140148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A7360-C0AC-D1F4-5682-37D16C04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Information</a:t>
            </a:r>
            <a:r>
              <a:rPr lang="zh-CN" altLang="en-US" dirty="0"/>
              <a:t> </a:t>
            </a:r>
            <a:r>
              <a:rPr lang="en-US" altLang="zh-CN" dirty="0"/>
              <a:t>Retrieval</a:t>
            </a:r>
            <a:r>
              <a:rPr lang="zh-CN" altLang="en-US" dirty="0"/>
              <a:t> </a:t>
            </a:r>
            <a:r>
              <a:rPr lang="en-US" altLang="zh-CN" dirty="0"/>
              <a:t>(IR)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0A0A5-D7FC-23D1-0339-F768DE79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0F6E79-4991-3C1A-DF4B-F3748F19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5" y="1108434"/>
            <a:ext cx="11064875" cy="2227550"/>
          </a:xfrm>
        </p:spPr>
        <p:txBody>
          <a:bodyPr/>
          <a:lstStyle/>
          <a:p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dirty="0"/>
              <a:t>is the name of the field encompassing the retrieval of all</a:t>
            </a:r>
            <a:r>
              <a:rPr lang="zh-CN" altLang="en-US" dirty="0"/>
              <a:t> </a:t>
            </a:r>
            <a:r>
              <a:rPr lang="en-US" altLang="zh-CN" dirty="0"/>
              <a:t>retrieval</a:t>
            </a:r>
            <a:r>
              <a:rPr lang="zh-CN" altLang="en-US" dirty="0"/>
              <a:t> </a:t>
            </a:r>
            <a:r>
              <a:rPr lang="en-US" altLang="zh-CN" dirty="0"/>
              <a:t>IR manner of media based on user information needs</a:t>
            </a:r>
          </a:p>
          <a:p>
            <a:endParaRPr lang="en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D71EBE-6837-F565-AF0A-2FCD9B1D6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373" y="2132268"/>
            <a:ext cx="10015177" cy="292085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B2A3F9-1FB9-0BD5-AD09-22B6108EB4C3}"/>
              </a:ext>
            </a:extLst>
          </p:cNvPr>
          <p:cNvSpPr/>
          <p:nvPr/>
        </p:nvSpPr>
        <p:spPr>
          <a:xfrm>
            <a:off x="4969291" y="2132268"/>
            <a:ext cx="3689131" cy="30829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129D56-87E2-B6AB-00CE-6DF04AF05C14}"/>
              </a:ext>
            </a:extLst>
          </p:cNvPr>
          <p:cNvSpPr txBox="1"/>
          <p:nvPr/>
        </p:nvSpPr>
        <p:spPr>
          <a:xfrm>
            <a:off x="4985057" y="5333976"/>
            <a:ext cx="5464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W</a:t>
            </a:r>
            <a:r>
              <a:rPr lang="en-US" dirty="0"/>
              <a:t>e map queries and document to </a:t>
            </a:r>
            <a:r>
              <a:rPr lang="en-US" dirty="0">
                <a:solidFill>
                  <a:srgbClr val="00B050"/>
                </a:solidFill>
              </a:rPr>
              <a:t>vectors</a:t>
            </a:r>
            <a:r>
              <a:rPr lang="en-US" dirty="0"/>
              <a:t> based on</a:t>
            </a:r>
            <a:r>
              <a:rPr lang="zh-CN" altLang="en-US" dirty="0"/>
              <a:t> </a:t>
            </a:r>
            <a:r>
              <a:rPr lang="en-US" dirty="0"/>
              <a:t>unigram word</a:t>
            </a:r>
            <a:r>
              <a:rPr lang="zh-CN" altLang="en-US" dirty="0"/>
              <a:t> </a:t>
            </a:r>
            <a:r>
              <a:rPr lang="en-US" dirty="0"/>
              <a:t>counts, and use the </a:t>
            </a:r>
            <a:r>
              <a:rPr lang="en-US" dirty="0">
                <a:solidFill>
                  <a:srgbClr val="00B050"/>
                </a:solidFill>
              </a:rPr>
              <a:t>cosine similarity</a:t>
            </a:r>
            <a:r>
              <a:rPr lang="zh-CN" altLang="en-US" dirty="0"/>
              <a:t> </a:t>
            </a:r>
            <a:r>
              <a:rPr lang="en-US" dirty="0"/>
              <a:t>between the vectors to rank potential documents</a:t>
            </a:r>
          </a:p>
        </p:txBody>
      </p:sp>
    </p:spTree>
    <p:extLst>
      <p:ext uri="{BB962C8B-B14F-4D97-AF65-F5344CB8AC3E}">
        <p14:creationId xmlns:p14="http://schemas.microsoft.com/office/powerpoint/2010/main" val="130356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85ED-04F9-0B24-9718-ECA8F0DB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Information</a:t>
            </a:r>
            <a:r>
              <a:rPr lang="zh-CN" altLang="en-US" dirty="0"/>
              <a:t> </a:t>
            </a:r>
            <a:r>
              <a:rPr lang="en-US" altLang="zh-CN" dirty="0"/>
              <a:t>Retrieval</a:t>
            </a:r>
            <a:r>
              <a:rPr lang="zh-CN" altLang="en-US" dirty="0"/>
              <a:t> </a:t>
            </a:r>
            <a:r>
              <a:rPr lang="en-US" altLang="zh-CN" dirty="0"/>
              <a:t>(IR)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TF-IDF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BB884-838C-92A5-C14E-B74B32DC6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6" y="1108434"/>
            <a:ext cx="7012085" cy="3728428"/>
          </a:xfrm>
        </p:spPr>
        <p:txBody>
          <a:bodyPr>
            <a:noAutofit/>
          </a:bodyPr>
          <a:lstStyle/>
          <a:p>
            <a:r>
              <a:rPr lang="en-US" dirty="0"/>
              <a:t>T</a:t>
            </a:r>
            <a:r>
              <a:rPr lang="en-US" altLang="zh-CN" dirty="0"/>
              <a:t>F</a:t>
            </a:r>
            <a:r>
              <a:rPr lang="en-US" dirty="0"/>
              <a:t>-</a:t>
            </a:r>
            <a:r>
              <a:rPr lang="en-US" altLang="zh-CN" dirty="0"/>
              <a:t>IDF</a:t>
            </a:r>
            <a:r>
              <a:rPr lang="zh-CN" altLang="en-US" dirty="0"/>
              <a:t> </a:t>
            </a:r>
            <a:r>
              <a:rPr lang="en-US" dirty="0"/>
              <a:t>is the product of two terms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term frequency</a:t>
            </a:r>
            <a:r>
              <a:rPr lang="en-US" dirty="0"/>
              <a:t> tells us how frequent the word is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document frequency</a:t>
            </a:r>
            <a:r>
              <a:rPr lang="en-US" altLang="zh-CN" dirty="0"/>
              <a:t> (</a:t>
            </a:r>
            <a:r>
              <a:rPr lang="en-US" altLang="zh-CN" dirty="0" err="1"/>
              <a:t>df</a:t>
            </a:r>
            <a:r>
              <a:rPr lang="en-US" altLang="zh-CN" dirty="0"/>
              <a:t>) of a term t is the number of documents it occurs</a:t>
            </a:r>
            <a:r>
              <a:rPr lang="zh-CN" altLang="en-US" dirty="0"/>
              <a:t> </a:t>
            </a:r>
            <a:r>
              <a:rPr lang="en-US" altLang="zh-CN" dirty="0"/>
              <a:t>in;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inverse document frequency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 err="1">
                <a:solidFill>
                  <a:srgbClr val="00B050"/>
                </a:solidFill>
                <a:effectLst/>
                <a:latin typeface="Helvetica" pitchFamily="2" charset="0"/>
              </a:rPr>
              <a:t>tf-idf</a:t>
            </a:r>
            <a:r>
              <a:rPr lang="en-US" dirty="0">
                <a:effectLst/>
                <a:latin typeface="Helvetica" pitchFamily="2" charset="0"/>
              </a:rPr>
              <a:t> value for word t in document d is then the product of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>
                <a:effectLst/>
                <a:latin typeface="Helvetica" pitchFamily="2" charset="0"/>
              </a:rPr>
              <a:t>these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>
                <a:effectLst/>
                <a:latin typeface="Helvetica" pitchFamily="2" charset="0"/>
              </a:rPr>
              <a:t>two</a:t>
            </a:r>
            <a:endParaRPr lang="en-US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168A-CC66-6106-45B8-49A844F0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8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C66E8-F079-8692-E27F-90C6BF6E7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811" y="2295783"/>
            <a:ext cx="6223700" cy="1133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97FDA0-226F-2FC2-591C-53D52452D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11" y="4601395"/>
            <a:ext cx="3243491" cy="9393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FF16BF-4650-2D55-95BC-3D5DEF667630}"/>
              </a:ext>
            </a:extLst>
          </p:cNvPr>
          <p:cNvSpPr txBox="1"/>
          <p:nvPr/>
        </p:nvSpPr>
        <p:spPr>
          <a:xfrm>
            <a:off x="8140896" y="4536647"/>
            <a:ext cx="3243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corpus of Shakespeare plays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51A061-8D92-8719-5539-B9F405A74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896" y="1108434"/>
            <a:ext cx="3055356" cy="3428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487FD3-4D73-61F8-DF5B-19B2C5F593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4274" y="5721403"/>
            <a:ext cx="2934387" cy="54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03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FDA07-F218-8006-ABDE-AADECA5EF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Information</a:t>
            </a:r>
            <a:r>
              <a:rPr lang="zh-CN" altLang="en-US" dirty="0"/>
              <a:t> </a:t>
            </a:r>
            <a:r>
              <a:rPr lang="en-US" altLang="zh-CN" dirty="0"/>
              <a:t>Retrieval</a:t>
            </a:r>
            <a:r>
              <a:rPr lang="zh-CN" altLang="en-US" dirty="0"/>
              <a:t> </a:t>
            </a:r>
            <a:r>
              <a:rPr lang="en-US" altLang="zh-CN" dirty="0"/>
              <a:t>(IR)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Document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Scoring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14805-9143-FFD7-F6DD-64BDDB559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4" y="1113280"/>
            <a:ext cx="4943651" cy="4365355"/>
          </a:xfrm>
        </p:spPr>
        <p:txBody>
          <a:bodyPr/>
          <a:lstStyle/>
          <a:p>
            <a:r>
              <a:rPr lang="en-US" dirty="0">
                <a:effectLst/>
                <a:latin typeface="Helvetica" pitchFamily="2" charset="0"/>
              </a:rPr>
              <a:t>We score document d by the cosine of its vector d with the query vector q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/>
              <a:t>using the </a:t>
            </a:r>
            <a:r>
              <a:rPr lang="en-US" dirty="0" err="1">
                <a:solidFill>
                  <a:srgbClr val="00B050"/>
                </a:solidFill>
              </a:rPr>
              <a:t>tf-idf</a:t>
            </a:r>
            <a:r>
              <a:rPr lang="en-US" dirty="0"/>
              <a:t> values and spelling out the dot product as</a:t>
            </a:r>
            <a:r>
              <a:rPr lang="zh-CN" altLang="en-US" dirty="0"/>
              <a:t> </a:t>
            </a:r>
            <a:r>
              <a:rPr lang="en-US" dirty="0"/>
              <a:t>a sum of products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FA646-3E0E-0D0C-77DC-75131C1C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9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D7442-169D-0444-6E89-6B9669275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506" y="2557351"/>
            <a:ext cx="3650767" cy="8470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53CEF7-9E2E-F71C-FF3F-9FEC871E2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59" y="5099567"/>
            <a:ext cx="4530621" cy="758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7C3420-2096-8894-3053-C848A6F9D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141" y="1024971"/>
            <a:ext cx="2714114" cy="1254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411FB1-BA00-F4E3-AEDF-4BD7D770A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2665" y="2279658"/>
            <a:ext cx="6870556" cy="433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8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2E92-A7BB-23C5-2A4B-6B3C593D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Information</a:t>
            </a:r>
            <a:r>
              <a:rPr lang="zh-CN" altLang="en-US" dirty="0"/>
              <a:t> </a:t>
            </a:r>
            <a:r>
              <a:rPr lang="en-US" altLang="zh-CN" dirty="0"/>
              <a:t>Retrieval</a:t>
            </a:r>
            <a:r>
              <a:rPr lang="zh-CN" altLang="en-US" dirty="0"/>
              <a:t> </a:t>
            </a:r>
            <a:r>
              <a:rPr lang="en-US" altLang="zh-CN" dirty="0"/>
              <a:t>(IR)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BM25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C0A6D-2020-DFA9-3417-865FC907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2492FF-5993-0543-7F4F-204E78DA4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It improves on TF-IDF by </a:t>
            </a:r>
            <a:r>
              <a:rPr lang="en-US" b="1" dirty="0"/>
              <a:t>nonlinear term-frequency saturation</a:t>
            </a:r>
            <a:r>
              <a:rPr lang="en-US" dirty="0"/>
              <a:t> and </a:t>
            </a:r>
            <a:r>
              <a:rPr lang="en-US" b="1" dirty="0"/>
              <a:t>length normalization</a:t>
            </a:r>
            <a:r>
              <a:rPr lang="en-US" dirty="0"/>
              <a:t>, and remains one of the strongest lexical baselines for retrieval and RAG systems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K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dirty="0"/>
              <a:t>Term Frequency Saturation</a:t>
            </a:r>
            <a:endParaRPr lang="en-US" altLang="zh-CN" dirty="0"/>
          </a:p>
          <a:p>
            <a:pPr lvl="2"/>
            <a:r>
              <a:rPr lang="en-US" dirty="0"/>
              <a:t>Large k: term frequency matters more</a:t>
            </a:r>
            <a:endParaRPr lang="en-US" altLang="zh-CN" dirty="0"/>
          </a:p>
          <a:p>
            <a:pPr lvl="2"/>
            <a:r>
              <a:rPr lang="en-US" dirty="0"/>
              <a:t>Small k: strong saturation, TF grows slowly</a:t>
            </a:r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dirty="0"/>
              <a:t>Length Normalization</a:t>
            </a:r>
            <a:endParaRPr lang="en-US" altLang="zh-CN" dirty="0"/>
          </a:p>
          <a:p>
            <a:pPr lvl="2"/>
            <a:r>
              <a:rPr lang="en-US" dirty="0"/>
              <a:t>b=1: full normalization</a:t>
            </a:r>
            <a:endParaRPr lang="en-US" altLang="zh-CN" dirty="0"/>
          </a:p>
          <a:p>
            <a:pPr lvl="2"/>
            <a:r>
              <a:rPr lang="en-US" dirty="0"/>
              <a:t>b=0: no length normalization</a:t>
            </a:r>
            <a:r>
              <a:rPr lang="zh-CN" altLang="en-US" dirty="0"/>
              <a:t> 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4E4848-F234-5E7B-04CF-AC6F6C7EB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585" y="1776673"/>
            <a:ext cx="6274151" cy="126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03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41FD-243F-6CE3-22F0-5567A046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Applications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BM25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4F2C3-8DB0-3537-ABD4-E28F7E4B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59B699-6086-8A4A-32A8-159CB3182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0750" y="5452292"/>
            <a:ext cx="5240458" cy="744133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Embedding-Informed Adaptive Retrieval-Augmented Generation of</a:t>
            </a:r>
            <a:r>
              <a:rPr lang="zh-CN" altLang="en-US" sz="1600" dirty="0"/>
              <a:t> </a:t>
            </a:r>
            <a:r>
              <a:rPr lang="en-US" sz="1600" dirty="0"/>
              <a:t>Large Language Models</a:t>
            </a:r>
            <a:r>
              <a:rPr lang="zh-CN" altLang="en-US" sz="1600" dirty="0"/>
              <a:t> </a:t>
            </a:r>
            <a:r>
              <a:rPr lang="en-US" altLang="zh-CN" sz="1600" dirty="0">
                <a:hlinkClick r:id="rId2"/>
              </a:rPr>
              <a:t>https://aclanthology.org/2025.coling-main.94.pdf</a:t>
            </a:r>
            <a:r>
              <a:rPr lang="zh-CN" altLang="en-US" sz="1600" dirty="0"/>
              <a:t> </a:t>
            </a:r>
            <a:endParaRPr lang="en-C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05551B-70FF-38F7-1A4A-B4B67C61B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247" y="1551328"/>
            <a:ext cx="5583465" cy="36045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EE88C6-4206-5E65-8F6B-BD78CE1AB3E9}"/>
              </a:ext>
            </a:extLst>
          </p:cNvPr>
          <p:cNvSpPr txBox="1"/>
          <p:nvPr/>
        </p:nvSpPr>
        <p:spPr>
          <a:xfrm>
            <a:off x="314326" y="5550094"/>
            <a:ext cx="5781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u="none" strike="noStrike" dirty="0">
                <a:solidFill>
                  <a:srgbClr val="446E9B"/>
                </a:solidFill>
                <a:effectLst/>
                <a:latin typeface="-apple-system"/>
                <a:hlinkClick r:id="rId4"/>
              </a:rPr>
              <a:t>When Not to Trust Language Models: Investigating Effectiveness of Parametric and Non-Parametric Memories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571CBD-0710-9F23-1ACB-4A7967FA2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8218" y="2297888"/>
            <a:ext cx="3653890" cy="31544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244EAE-8B40-5D8B-D754-7029D66BC6C2}"/>
              </a:ext>
            </a:extLst>
          </p:cNvPr>
          <p:cNvSpPr txBox="1"/>
          <p:nvPr/>
        </p:nvSpPr>
        <p:spPr>
          <a:xfrm>
            <a:off x="400444" y="1148171"/>
            <a:ext cx="49093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PopQA</a:t>
            </a:r>
            <a:r>
              <a:rPr lang="en-US" dirty="0"/>
              <a:t> is a large-scale open-domain question answering (QA) dataset, consisting of 14k entity-centric QA pairs.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21018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F4EA3-D551-A70B-BA79-890EA181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Tools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classic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93DA8-2555-8DEA-ED13-5C4FC4519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Elasticsearch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>
                <a:hlinkClick r:id="rId2"/>
              </a:rPr>
              <a:t>https://www.elastic.co</a:t>
            </a:r>
            <a:endParaRPr lang="en-US" dirty="0"/>
          </a:p>
          <a:p>
            <a:r>
              <a:rPr lang="en-US" dirty="0" err="1"/>
              <a:t>Pyserini</a:t>
            </a:r>
            <a:r>
              <a:rPr lang="en-US" dirty="0"/>
              <a:t>:</a:t>
            </a:r>
            <a:r>
              <a:rPr lang="zh-CN" altLang="en-US" dirty="0"/>
              <a:t> </a:t>
            </a:r>
            <a:r>
              <a:rPr lang="en-US" dirty="0">
                <a:hlinkClick r:id="rId3"/>
              </a:rPr>
              <a:t>https://github.com/castorini/pyserini</a:t>
            </a:r>
            <a:endParaRPr lang="en-US" dirty="0"/>
          </a:p>
          <a:p>
            <a:r>
              <a:rPr lang="en-US" dirty="0" err="1"/>
              <a:t>PrimeQA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>
                <a:hlinkClick r:id="rId4"/>
              </a:rPr>
              <a:t>https://github.com/primeqa/primeqa</a:t>
            </a:r>
            <a:r>
              <a:rPr lang="zh-CN" altLang="en-US" dirty="0"/>
              <a:t> 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3228C-E2D6-2DEA-6E9D-DCD191E5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70069-8B2E-0191-F56B-B8F7494FE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618186"/>
            <a:ext cx="3886200" cy="27349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4A76EE-906B-280E-2500-2AAAA154D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075" y="3647369"/>
            <a:ext cx="3505724" cy="2705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F28DB1-29DD-58E5-C352-DFAEFA798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7598" y="3690810"/>
            <a:ext cx="3379601" cy="267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25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From Sparse</a:t>
            </a:r>
            <a:r>
              <a:rPr lang="zh-CN" altLang="en-US" b="1" dirty="0"/>
              <a:t> </a:t>
            </a:r>
            <a:r>
              <a:rPr lang="en-US" b="1" dirty="0"/>
              <a:t>BM25</a:t>
            </a:r>
            <a:r>
              <a:rPr lang="zh-CN" altLang="en-US" b="1" dirty="0"/>
              <a:t> </a:t>
            </a:r>
            <a:r>
              <a:rPr lang="en-US" b="1" dirty="0"/>
              <a:t>to Dense Retrieval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AAE68F-F7E0-B64D-991A-0D7137CF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E6A73-9977-5CFA-F85D-79E1D2D2B76E}"/>
              </a:ext>
            </a:extLst>
          </p:cNvPr>
          <p:cNvSpPr txBox="1"/>
          <p:nvPr/>
        </p:nvSpPr>
        <p:spPr>
          <a:xfrm>
            <a:off x="314326" y="989000"/>
            <a:ext cx="99269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Vocabulary Mismatch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Problem:</a:t>
            </a:r>
            <a:r>
              <a:rPr lang="zh-CN" altLang="en-US" sz="2000" b="1" dirty="0"/>
              <a:t> </a:t>
            </a:r>
            <a:r>
              <a:rPr lang="en-US" altLang="zh-CN" sz="2000" dirty="0"/>
              <a:t>M</a:t>
            </a:r>
            <a:r>
              <a:rPr lang="en-US" sz="2000" dirty="0"/>
              <a:t>ethods like TF-IDF and BM25 rely on exact word overlap between query and document.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Sparse vectors only count words—</a:t>
            </a:r>
            <a:r>
              <a:rPr lang="en-US" sz="2000" b="1" dirty="0"/>
              <a:t>no semantic understanding</a:t>
            </a:r>
            <a:r>
              <a:rPr lang="en-US" sz="20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7F7C7B-3FCA-0121-95CB-A3BFE75ED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316" y="2128965"/>
            <a:ext cx="9265096" cy="379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FD5A26-D04E-73A0-7096-1591EBC9D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645" y="6045467"/>
            <a:ext cx="2129393" cy="511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938557-C4BF-0DD5-4D25-5D0FBE610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710" y="5921165"/>
            <a:ext cx="1942093" cy="79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16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F90E-5063-74A3-C7AA-CE3A4330A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Neural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Cross-encoders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D41CF-E138-505C-2CEB-7BE56AA76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5" y="1108433"/>
            <a:ext cx="11064875" cy="669917"/>
          </a:xfrm>
        </p:spPr>
        <p:txBody>
          <a:bodyPr/>
          <a:lstStyle/>
          <a:p>
            <a:r>
              <a:rPr lang="en-US" dirty="0"/>
              <a:t>Incredibly rich, but won’t scale!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504A7-F9E1-8766-ED9B-958B081B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14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F80F8-8EBC-0DAB-BC89-7ED47AD44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22" y="1699051"/>
            <a:ext cx="10768964" cy="479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27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A6F92-5A89-22A4-D0AC-EC227F184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Neural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Dense Passage Retrieval</a:t>
            </a:r>
            <a:endParaRPr lang="en-CN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A984F-D9FA-EED6-3D04-5A83E81B7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5" y="1108434"/>
            <a:ext cx="11064875" cy="739286"/>
          </a:xfrm>
        </p:spPr>
        <p:txBody>
          <a:bodyPr/>
          <a:lstStyle/>
          <a:p>
            <a:r>
              <a:rPr lang="en-US" dirty="0"/>
              <a:t>Highly scalable, but limited query/doc interactions!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B7531-3CD0-24EA-2172-0C5EB715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15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94238-2C75-ED9C-242A-38A86754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83759"/>
            <a:ext cx="10316612" cy="470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947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50D9-0C5F-D814-967D-37759075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Neural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Cross-Encoder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vs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DPR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8C422-40B9-A788-B869-FB8FA22F7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5" y="1108434"/>
            <a:ext cx="7825587" cy="1187025"/>
          </a:xfrm>
        </p:spPr>
        <p:txBody>
          <a:bodyPr/>
          <a:lstStyle/>
          <a:p>
            <a:r>
              <a:rPr lang="en-US" dirty="0"/>
              <a:t>Shared loss function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The negative log-likelihood of the positive passage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203C4-AA22-3D87-B609-438B829F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16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F2F76D-6633-816D-E103-FB635CC4A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88" y="2056741"/>
            <a:ext cx="6053432" cy="44361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E02D5B-355D-0215-F77E-D5B94C719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069" y="5647288"/>
            <a:ext cx="3039110" cy="1172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35BCC5-3422-8921-DE65-95F4929E3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974" y="949464"/>
            <a:ext cx="4475178" cy="469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0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ECA9-3E83-FA31-FF4C-304B8DBE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Neural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sz="2800" dirty="0" err="1">
                <a:solidFill>
                  <a:srgbClr val="00B050"/>
                </a:solidFill>
              </a:rPr>
              <a:t>ColBERT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CB5C34-37AB-1AD1-BF93-03E3F3E4A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5095" y="1158778"/>
            <a:ext cx="11064875" cy="31622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09411-397B-3FF6-961D-D84B04BE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B8CCF1-9174-C35C-9A86-F1411AFDAAF4}"/>
              </a:ext>
            </a:extLst>
          </p:cNvPr>
          <p:cNvSpPr txBox="1"/>
          <p:nvPr/>
        </p:nvSpPr>
        <p:spPr>
          <a:xfrm>
            <a:off x="7933209" y="5693336"/>
            <a:ext cx="37395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hlinkClick r:id="rId4"/>
              </a:rPr>
              <a:t>ColBERT: Efficient and Effective Passage Search via</a:t>
            </a:r>
            <a:r>
              <a:rPr lang="zh-CN" altLang="en-US" dirty="0">
                <a:hlinkClick r:id="rId4"/>
              </a:rPr>
              <a:t> </a:t>
            </a:r>
            <a:r>
              <a:rPr lang="en-CN" dirty="0">
                <a:hlinkClick r:id="rId4"/>
              </a:rPr>
              <a:t>Contextualized Late Interaction over BERT</a:t>
            </a:r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B841FA-9C73-03CC-4DCE-70D586B616F9}"/>
              </a:ext>
            </a:extLst>
          </p:cNvPr>
          <p:cNvSpPr txBox="1"/>
          <p:nvPr/>
        </p:nvSpPr>
        <p:spPr>
          <a:xfrm>
            <a:off x="239635" y="4413279"/>
            <a:ext cx="731520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ColBERT</a:t>
            </a:r>
            <a:r>
              <a:rPr lang="en-US" dirty="0"/>
              <a:t> uses a late interaction architecture that separately encodes queries and documents with BERT, then performs a lightweight token-level similarity matching to retain fine-grained relevance signals. </a:t>
            </a: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design allows document embeddings to be pre-computed and indexed, enabling retrieval that is both highly accurate and orders of magnitude faster than traditional cross-encoder BERT ranking.</a:t>
            </a:r>
          </a:p>
        </p:txBody>
      </p:sp>
    </p:spTree>
    <p:extLst>
      <p:ext uri="{BB962C8B-B14F-4D97-AF65-F5344CB8AC3E}">
        <p14:creationId xmlns:p14="http://schemas.microsoft.com/office/powerpoint/2010/main" val="2391483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14A5A-A022-1375-A85B-77210FF09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Neural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sz="2800" dirty="0" err="1">
                <a:solidFill>
                  <a:srgbClr val="00B050"/>
                </a:solidFill>
              </a:rPr>
              <a:t>ColBERT</a:t>
            </a:r>
            <a:endParaRPr lang="en-CN" sz="2800" dirty="0">
              <a:solidFill>
                <a:srgbClr val="00B05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DB7CE6-7A3E-219D-846A-1AF1D294A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190" y="1108075"/>
            <a:ext cx="8569544" cy="55086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1DAD2-1DB9-116D-DD79-A28B1C2E7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6303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9EBC-64FC-F187-6709-3741A5F51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Neural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r>
              <a:rPr lang="zh-CN" altLang="en-US" dirty="0"/>
              <a:t> </a:t>
            </a:r>
            <a:r>
              <a:rPr lang="en-US" altLang="zh-CN" sz="2800" dirty="0" err="1">
                <a:solidFill>
                  <a:srgbClr val="00B050"/>
                </a:solidFill>
              </a:rPr>
              <a:t>ColBERT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3AE58-9E5B-315D-7B41-721112458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25" y="1108434"/>
            <a:ext cx="11064875" cy="610388"/>
          </a:xfrm>
        </p:spPr>
        <p:txBody>
          <a:bodyPr/>
          <a:lstStyle/>
          <a:p>
            <a:r>
              <a:rPr lang="en-US" dirty="0"/>
              <a:t>Soft alignment with </a:t>
            </a:r>
            <a:r>
              <a:rPr lang="en-US" dirty="0" err="1"/>
              <a:t>ColBERT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82AD9-7FC5-C880-497E-A362EA29B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19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85C22-1B43-873F-D89A-DD72E3495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858" y="1718822"/>
            <a:ext cx="8793604" cy="36920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CFDE09-8575-6718-310C-31DA749CA2C9}"/>
              </a:ext>
            </a:extLst>
          </p:cNvPr>
          <p:cNvSpPr txBox="1"/>
          <p:nvPr/>
        </p:nvSpPr>
        <p:spPr>
          <a:xfrm>
            <a:off x="2445824" y="5559596"/>
            <a:ext cx="75936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dirty="0"/>
              <a:t>matches each query token to its most similar document token using </a:t>
            </a:r>
            <a:r>
              <a:rPr lang="en-US" dirty="0">
                <a:solidFill>
                  <a:srgbClr val="00B050"/>
                </a:solidFill>
              </a:rPr>
              <a:t>late-interaction max-sim</a:t>
            </a:r>
            <a:r>
              <a:rPr lang="en-US" dirty="0"/>
              <a:t> scoring, enabling </a:t>
            </a:r>
            <a:r>
              <a:rPr lang="en-US" dirty="0">
                <a:solidFill>
                  <a:srgbClr val="00B050"/>
                </a:solidFill>
              </a:rPr>
              <a:t>fine-grained semantic comparison</a:t>
            </a:r>
            <a:r>
              <a:rPr lang="en-US" dirty="0"/>
              <a:t> without running BERT on every query–document pair.</a:t>
            </a:r>
          </a:p>
        </p:txBody>
      </p:sp>
    </p:spTree>
    <p:extLst>
      <p:ext uri="{BB962C8B-B14F-4D97-AF65-F5344CB8AC3E}">
        <p14:creationId xmlns:p14="http://schemas.microsoft.com/office/powerpoint/2010/main" val="3420315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CD1AC-93A4-A04D-B442-6E163BF1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FC718-7F01-B143-A502-5FF21C038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3"/>
              </a:rPr>
              <a:t>[1]</a:t>
            </a:r>
            <a:r>
              <a:rPr lang="zh-CN" altLang="en-US" dirty="0">
                <a:hlinkClick r:id="rId3"/>
              </a:rPr>
              <a:t> </a:t>
            </a:r>
            <a:r>
              <a:rPr lang="en-US" dirty="0">
                <a:hlinkClick r:id="rId3"/>
              </a:rPr>
              <a:t>https://web.stanford.edu/class/cs224u/slides/cs224u-neuralir-2023-handout.pd</a:t>
            </a:r>
            <a:r>
              <a:rPr lang="en-US" altLang="zh-CN" dirty="0">
                <a:hlinkClick r:id="rId3"/>
              </a:rPr>
              <a:t>f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[2]</a:t>
            </a:r>
            <a:r>
              <a:rPr lang="zh-CN" altLang="en-US" dirty="0"/>
              <a:t> 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Jurafsky &amp; Martin. </a:t>
            </a:r>
            <a:r>
              <a:rPr lang="en-US" b="0" i="1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Speech and Language Processing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Chapter 11: Information Retrieval and RAG. Draft, Jan 2026.</a:t>
            </a:r>
          </a:p>
          <a:p>
            <a:r>
              <a:rPr lang="en-US" altLang="zh-CN" dirty="0"/>
              <a:t>[3]</a:t>
            </a:r>
            <a:r>
              <a:rPr lang="zh-CN" altLang="en-US" dirty="0"/>
              <a:t> 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Stanford CS224U Neural IR slides: </a:t>
            </a:r>
            <a:r>
              <a:rPr lang="en-US" b="0" i="0" u="none" strike="noStrike" dirty="0">
                <a:solidFill>
                  <a:srgbClr val="2A76DD"/>
                </a:solidFill>
                <a:effectLst/>
                <a:latin typeface="Source Sans Pro" panose="020B0503030403020204" pitchFamily="34" charset="0"/>
                <a:hlinkClick r:id="rId3"/>
              </a:rPr>
              <a:t>cs224u-neuralir-2023-handout.pdf</a:t>
            </a:r>
            <a:endParaRPr lang="en-US" b="0" i="0" u="none" strike="noStrike" dirty="0">
              <a:solidFill>
                <a:srgbClr val="2A76DD"/>
              </a:solidFill>
              <a:effectLst/>
              <a:latin typeface="Source Sans Pro" panose="020B0503030403020204" pitchFamily="34" charset="0"/>
            </a:endParaRPr>
          </a:p>
          <a:p>
            <a:r>
              <a:rPr lang="en-US" altLang="zh-CN" b="1" dirty="0">
                <a:solidFill>
                  <a:srgbClr val="2A76DD"/>
                </a:solidFill>
                <a:latin typeface="Source Sans Pro" panose="020B0503030403020204" pitchFamily="34" charset="0"/>
              </a:rPr>
              <a:t>Next</a:t>
            </a:r>
            <a:r>
              <a:rPr lang="zh-CN" altLang="en-US" b="1" dirty="0">
                <a:solidFill>
                  <a:srgbClr val="2A76DD"/>
                </a:solidFill>
                <a:latin typeface="Source Sans Pro" panose="020B0503030403020204" pitchFamily="34" charset="0"/>
              </a:rPr>
              <a:t> </a:t>
            </a:r>
            <a:r>
              <a:rPr lang="en-US" altLang="zh-CN" b="1" dirty="0">
                <a:solidFill>
                  <a:srgbClr val="2A76DD"/>
                </a:solidFill>
                <a:latin typeface="Source Sans Pro" panose="020B0503030403020204" pitchFamily="34" charset="0"/>
              </a:rPr>
              <a:t>lecture:</a:t>
            </a:r>
            <a:r>
              <a:rPr lang="zh-CN" altLang="en-US" b="1" dirty="0">
                <a:solidFill>
                  <a:srgbClr val="2A76DD"/>
                </a:solidFill>
                <a:latin typeface="Source Sans Pro" panose="020B0503030403020204" pitchFamily="34" charset="0"/>
              </a:rPr>
              <a:t> </a:t>
            </a:r>
            <a:r>
              <a:rPr lang="en-US" altLang="zh-CN" b="1" dirty="0">
                <a:solidFill>
                  <a:srgbClr val="2A76DD"/>
                </a:solidFill>
                <a:latin typeface="Source Sans Pro" panose="020B0503030403020204" pitchFamily="34" charset="0"/>
              </a:rPr>
              <a:t>Diffusion</a:t>
            </a:r>
            <a:r>
              <a:rPr lang="zh-CN" altLang="en-US" b="1" dirty="0">
                <a:solidFill>
                  <a:srgbClr val="2A76DD"/>
                </a:solidFill>
                <a:latin typeface="Source Sans Pro" panose="020B0503030403020204" pitchFamily="34" charset="0"/>
              </a:rPr>
              <a:t> </a:t>
            </a:r>
            <a:r>
              <a:rPr lang="en-US" altLang="zh-CN" b="1" dirty="0">
                <a:solidFill>
                  <a:srgbClr val="2A76DD"/>
                </a:solidFill>
                <a:latin typeface="Source Sans Pro" panose="020B0503030403020204" pitchFamily="34" charset="0"/>
              </a:rPr>
              <a:t>language</a:t>
            </a:r>
            <a:r>
              <a:rPr lang="zh-CN" altLang="en-US" b="1" dirty="0">
                <a:solidFill>
                  <a:srgbClr val="2A76DD"/>
                </a:solidFill>
                <a:latin typeface="Source Sans Pro" panose="020B0503030403020204" pitchFamily="34" charset="0"/>
              </a:rPr>
              <a:t> </a:t>
            </a:r>
            <a:r>
              <a:rPr lang="en-US" altLang="zh-CN" b="1" dirty="0">
                <a:solidFill>
                  <a:srgbClr val="2A76DD"/>
                </a:solidFill>
                <a:latin typeface="Source Sans Pro" panose="020B0503030403020204" pitchFamily="34" charset="0"/>
              </a:rPr>
              <a:t>models</a:t>
            </a:r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1DB94-3115-1A42-9830-28890BD9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0165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ahoma">
      <a:majorFont>
        <a:latin typeface="Tahoma"/>
        <a:ea typeface="Tahoma"/>
        <a:cs typeface=""/>
      </a:majorFont>
      <a:minorFont>
        <a:latin typeface="Tahoma"/>
        <a:ea typeface="Tahom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TM02892315[[fn=丝状]]</Template>
  <TotalTime>0</TotalTime>
  <Words>967</Words>
  <Application>Microsoft Macintosh PowerPoint</Application>
  <PresentationFormat>Widescreen</PresentationFormat>
  <Paragraphs>113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-apple-system</vt:lpstr>
      <vt:lpstr>等线</vt:lpstr>
      <vt:lpstr>Arial</vt:lpstr>
      <vt:lpstr>Helvetica</vt:lpstr>
      <vt:lpstr>Source Sans Pro</vt:lpstr>
      <vt:lpstr>Tahoma</vt:lpstr>
      <vt:lpstr>Office 主题​​</vt:lpstr>
      <vt:lpstr>Lecture 10 – Information Retrieval and Retrieval-Augmented Generation</vt:lpstr>
      <vt:lpstr>Motivation</vt:lpstr>
      <vt:lpstr>Motivation factoid questions</vt:lpstr>
      <vt:lpstr>Motivation factoid questions</vt:lpstr>
      <vt:lpstr>Motivation</vt:lpstr>
      <vt:lpstr>RAG Retrieval-Augmented Generation</vt:lpstr>
      <vt:lpstr>Information Retrieval (IR)</vt:lpstr>
      <vt:lpstr>Information Retrieval (IR) TF-IDF</vt:lpstr>
      <vt:lpstr>Information Retrieval (IR) Document Scoring</vt:lpstr>
      <vt:lpstr>Information Retrieval (IR) BM25</vt:lpstr>
      <vt:lpstr>Applications of BM25</vt:lpstr>
      <vt:lpstr>Tools for classic IR</vt:lpstr>
      <vt:lpstr>From Sparse BM25 to Dense Retrieval</vt:lpstr>
      <vt:lpstr>Neural IR Cross-encoders</vt:lpstr>
      <vt:lpstr>Neural IR Dense Passage Retrieval</vt:lpstr>
      <vt:lpstr>Neural IR Cross-Encoder vs DPR</vt:lpstr>
      <vt:lpstr>Neural IR ColBERT</vt:lpstr>
      <vt:lpstr>Neural IR ColBERT</vt:lpstr>
      <vt:lpstr>Neural IR ColBERT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2023-02-22T16:32:21Z</dcterms:created>
  <dcterms:modified xsi:type="dcterms:W3CDTF">2026-05-13T11:25:52Z</dcterms:modified>
</cp:coreProperties>
</file>